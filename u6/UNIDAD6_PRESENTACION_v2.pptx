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5143500" cy="9144000"/>
  <p:embeddedFontLst>
    <p:embeddedFont>
      <p:font typeface="Arial Black"/>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iOJxnNzvo6CMGsT6kqNAG//twz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BEF54B-14FB-440B-B6E1-25F5FA6AA642}">
  <a:tblStyle styleId="{A2BEF54B-14FB-440B-B6E1-25F5FA6AA642}"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ArialBlack-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 name="Google Shape;6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e260bd44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g3f8e260bd44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Miren la caja del centro: eso es lo que construimos en U5 y hoy no vamos a tocar. Por fuera es Cloud Run, el servicio serverless que expone la URL y decide cuántas instancias levantar. Por dentro está nuestro contenedor, y dentro del contenedor, en capas: FastAPI expone /predict, el contrato Pydantic valida o rechaza con 422, el vector de features se arma siempre en el mismo orden, y el modelo XGBoost se descarga de GCS una sola vez al arrancar. Ahora miren los bordes. En U5, quien disparaba la llamada eran ustedes, un curl, un registro, alguien esperando la respuesta en pantalla. En U6 es Airflow, automáticamente, fila por fila de un CSV, y nadie está esperando. La API no distingue entre los dos: recibe el mismo JSON y responde igual. La diferencia real está en qué pasa con esa respuesta: en tiempo real se ve y se pierde; en batch, Airflow la guarda en BigQuery, en resultados si fue 200 y en cuarentena si fue 422. Ahí nace la trazabilidad.</a:t>
            </a:r>
            <a:endParaRPr/>
          </a:p>
        </p:txBody>
      </p:sp>
      <p:sp>
        <p:nvSpPr>
          <p:cNvPr id="155" name="Google Shape;155;g3f8e260bd44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0" name="Google Shape;27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2" name="Google Shape;39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E9"/>
        </a:solidFill>
      </p:bgPr>
    </p:bg>
    <p:spTree>
      <p:nvGrpSpPr>
        <p:cNvPr id="15" name="Shape 15"/>
        <p:cNvGrpSpPr/>
        <p:nvPr/>
      </p:nvGrpSpPr>
      <p:grpSpPr>
        <a:xfrm>
          <a:off x="0" y="0"/>
          <a:ext cx="0" cy="0"/>
          <a:chOff x="0" y="0"/>
          <a:chExt cx="0" cy="0"/>
        </a:xfrm>
      </p:grpSpPr>
      <p:pic>
        <p:nvPicPr>
          <p:cNvPr descr="preencoded.png" id="16" name="Google Shape;16;p1"/>
          <p:cNvPicPr preferRelativeResize="0"/>
          <p:nvPr/>
        </p:nvPicPr>
        <p:blipFill rotWithShape="1">
          <a:blip r:embed="rId3">
            <a:alphaModFix/>
          </a:blip>
          <a:srcRect b="0" l="0" r="0" t="0"/>
          <a:stretch/>
        </p:blipFill>
        <p:spPr>
          <a:xfrm>
            <a:off x="274320" y="228600"/>
            <a:ext cx="1463040" cy="612648"/>
          </a:xfrm>
          <a:prstGeom prst="rect">
            <a:avLst/>
          </a:prstGeom>
          <a:noFill/>
          <a:ln>
            <a:noFill/>
          </a:ln>
        </p:spPr>
      </p:pic>
      <p:sp>
        <p:nvSpPr>
          <p:cNvPr id="17" name="Google Shape;17;p1"/>
          <p:cNvSpPr/>
          <p:nvPr/>
        </p:nvSpPr>
        <p:spPr>
          <a:xfrm>
            <a:off x="4572000" y="822960"/>
            <a:ext cx="4572000" cy="685800"/>
          </a:xfrm>
          <a:prstGeom prst="rect">
            <a:avLst/>
          </a:prstGeom>
          <a:solidFill>
            <a:srgbClr val="E2E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a:off x="4572000" y="822960"/>
            <a:ext cx="4572000" cy="685800"/>
          </a:xfrm>
          <a:prstGeom prst="rect">
            <a:avLst/>
          </a:prstGeom>
          <a:noFill/>
          <a:ln>
            <a:noFill/>
          </a:ln>
        </p:spPr>
        <p:txBody>
          <a:bodyPr anchorCtr="0" anchor="ctr" bIns="0" lIns="0" spcFirstLastPara="1" rIns="254000" wrap="square" tIns="0">
            <a:noAutofit/>
          </a:bodyPr>
          <a:lstStyle/>
          <a:p>
            <a:pPr indent="0" lvl="0" marL="0" marR="0" rtl="0" algn="r">
              <a:lnSpc>
                <a:spcPct val="100000"/>
              </a:lnSpc>
              <a:spcBef>
                <a:spcPts val="0"/>
              </a:spcBef>
              <a:spcAft>
                <a:spcPts val="0"/>
              </a:spcAft>
              <a:buClr>
                <a:srgbClr val="2C3E50"/>
              </a:buClr>
              <a:buSzPts val="2200"/>
              <a:buFont typeface="Arial Black"/>
              <a:buNone/>
            </a:pPr>
            <a:r>
              <a:rPr b="0" i="0" lang="en-US" sz="2200" u="none" cap="none" strike="noStrike">
                <a:solidFill>
                  <a:srgbClr val="2C3E50"/>
                </a:solidFill>
                <a:latin typeface="Arial Black"/>
                <a:ea typeface="Arial Black"/>
                <a:cs typeface="Arial Black"/>
                <a:sym typeface="Arial Black"/>
              </a:rPr>
              <a:t>Unidad 6</a:t>
            </a:r>
            <a:endParaRPr b="0" i="0" sz="2200" u="none" cap="none" strike="noStrike">
              <a:solidFill>
                <a:schemeClr val="dk1"/>
              </a:solidFill>
              <a:latin typeface="Calibri"/>
              <a:ea typeface="Calibri"/>
              <a:cs typeface="Calibri"/>
              <a:sym typeface="Calibri"/>
            </a:endParaRPr>
          </a:p>
        </p:txBody>
      </p:sp>
      <p:sp>
        <p:nvSpPr>
          <p:cNvPr id="19" name="Google Shape;19;p1"/>
          <p:cNvSpPr/>
          <p:nvPr/>
        </p:nvSpPr>
        <p:spPr>
          <a:xfrm>
            <a:off x="457200" y="1645920"/>
            <a:ext cx="8229600" cy="2011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200"/>
              <a:buFont typeface="Arial Black"/>
              <a:buNone/>
            </a:pPr>
            <a:r>
              <a:rPr b="1" i="0" lang="en-US" sz="4200" u="none" cap="none" strike="noStrike">
                <a:solidFill>
                  <a:srgbClr val="FFFFFF"/>
                </a:solidFill>
                <a:latin typeface="Arial Black"/>
                <a:ea typeface="Arial Black"/>
                <a:cs typeface="Arial Black"/>
                <a:sym typeface="Arial Black"/>
              </a:rPr>
              <a:t>Automatización de</a:t>
            </a:r>
            <a:endParaRPr b="0" i="0" sz="4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4200"/>
              <a:buFont typeface="Arial Black"/>
              <a:buNone/>
            </a:pPr>
            <a:r>
              <a:rPr b="1" i="0" lang="en-US" sz="4200" u="none" cap="none" strike="noStrike">
                <a:solidFill>
                  <a:srgbClr val="FFFFFF"/>
                </a:solidFill>
                <a:latin typeface="Arial Black"/>
                <a:ea typeface="Arial Black"/>
                <a:cs typeface="Arial Black"/>
                <a:sym typeface="Arial Black"/>
              </a:rPr>
              <a:t>Datos en la Nube</a:t>
            </a:r>
            <a:endParaRPr b="0" i="0" sz="4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4200"/>
              <a:buFont typeface="Arial Black"/>
              <a:buNone/>
            </a:pPr>
            <a:r>
              <a:rPr b="1" i="0" lang="en-US" sz="4200" u="none" cap="none" strike="noStrike">
                <a:solidFill>
                  <a:srgbClr val="FFFFFF"/>
                </a:solidFill>
                <a:latin typeface="Arial Black"/>
                <a:ea typeface="Arial Black"/>
                <a:cs typeface="Arial Black"/>
                <a:sym typeface="Arial Black"/>
              </a:rPr>
              <a:t>y MLOps</a:t>
            </a:r>
            <a:endParaRPr b="0" i="0" sz="4200" u="none" cap="none" strike="noStrike">
              <a:solidFill>
                <a:schemeClr val="dk1"/>
              </a:solidFill>
              <a:latin typeface="Calibri"/>
              <a:ea typeface="Calibri"/>
              <a:cs typeface="Calibri"/>
              <a:sym typeface="Calibri"/>
            </a:endParaRPr>
          </a:p>
        </p:txBody>
      </p:sp>
      <p:sp>
        <p:nvSpPr>
          <p:cNvPr id="20" name="Google Shape;20;p1"/>
          <p:cNvSpPr/>
          <p:nvPr/>
        </p:nvSpPr>
        <p:spPr>
          <a:xfrm>
            <a:off x="457200" y="3657600"/>
            <a:ext cx="822960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Del modelo servido al pipeline automatizado</a:t>
            </a:r>
            <a:endParaRPr b="0" i="0" sz="1400" u="none" cap="none" strike="noStrike">
              <a:solidFill>
                <a:schemeClr val="dk1"/>
              </a:solidFill>
              <a:latin typeface="Calibri"/>
              <a:ea typeface="Calibri"/>
              <a:cs typeface="Calibri"/>
              <a:sym typeface="Calibri"/>
            </a:endParaRPr>
          </a:p>
        </p:txBody>
      </p:sp>
      <p:sp>
        <p:nvSpPr>
          <p:cNvPr id="21" name="Google Shape;21;p1"/>
          <p:cNvSpPr/>
          <p:nvPr/>
        </p:nvSpPr>
        <p:spPr>
          <a:xfrm>
            <a:off x="457200" y="4023360"/>
            <a:ext cx="8229600" cy="2743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Universidad Icesi</a:t>
            </a:r>
            <a:endParaRPr b="0" i="0" sz="1200" u="none" cap="none" strike="noStrike">
              <a:solidFill>
                <a:schemeClr val="dk1"/>
              </a:solidFill>
              <a:latin typeface="Calibri"/>
              <a:ea typeface="Calibri"/>
              <a:cs typeface="Calibri"/>
              <a:sym typeface="Calibri"/>
            </a:endParaRPr>
          </a:p>
        </p:txBody>
      </p:sp>
      <p:sp>
        <p:nvSpPr>
          <p:cNvPr id="22" name="Google Shape;22;p1"/>
          <p:cNvSpPr/>
          <p:nvPr/>
        </p:nvSpPr>
        <p:spPr>
          <a:xfrm>
            <a:off x="457200" y="4617720"/>
            <a:ext cx="8229600" cy="2743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E2EA61"/>
              </a:buClr>
              <a:buSzPts val="1200"/>
              <a:buFont typeface="Calibri"/>
              <a:buNone/>
            </a:pPr>
            <a:r>
              <a:rPr b="1" lang="en-US" sz="1200">
                <a:solidFill>
                  <a:srgbClr val="E2EA61"/>
                </a:solidFill>
                <a:latin typeface="Calibri"/>
                <a:ea typeface="Calibri"/>
                <a:cs typeface="Calibri"/>
                <a:sym typeface="Calibri"/>
              </a:rPr>
              <a:t>Septiembre</a:t>
            </a:r>
            <a:r>
              <a:rPr b="1" i="0" lang="en-US" sz="1200" u="none" cap="none" strike="noStrike">
                <a:solidFill>
                  <a:srgbClr val="E2EA61"/>
                </a:solidFill>
                <a:latin typeface="Calibri"/>
                <a:ea typeface="Calibri"/>
                <a:cs typeface="Calibri"/>
                <a:sym typeface="Calibri"/>
              </a:rPr>
              <a: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E9"/>
        </a:solidFill>
      </p:bgPr>
    </p:bg>
    <p:spTree>
      <p:nvGrpSpPr>
        <p:cNvPr id="27" name="Shape 27"/>
        <p:cNvGrpSpPr/>
        <p:nvPr/>
      </p:nvGrpSpPr>
      <p:grpSpPr>
        <a:xfrm>
          <a:off x="0" y="0"/>
          <a:ext cx="0" cy="0"/>
          <a:chOff x="0" y="0"/>
          <a:chExt cx="0" cy="0"/>
        </a:xfrm>
      </p:grpSpPr>
      <p:pic>
        <p:nvPicPr>
          <p:cNvPr descr="preencoded.png" id="28" name="Google Shape;28;p2"/>
          <p:cNvPicPr preferRelativeResize="0"/>
          <p:nvPr/>
        </p:nvPicPr>
        <p:blipFill rotWithShape="1">
          <a:blip r:embed="rId3">
            <a:alphaModFix/>
          </a:blip>
          <a:srcRect b="0" l="0" r="0" t="0"/>
          <a:stretch/>
        </p:blipFill>
        <p:spPr>
          <a:xfrm>
            <a:off x="274320" y="228600"/>
            <a:ext cx="1463040" cy="612648"/>
          </a:xfrm>
          <a:prstGeom prst="rect">
            <a:avLst/>
          </a:prstGeom>
          <a:noFill/>
          <a:ln>
            <a:noFill/>
          </a:ln>
        </p:spPr>
      </p:pic>
      <p:sp>
        <p:nvSpPr>
          <p:cNvPr id="29" name="Google Shape;29;p2"/>
          <p:cNvSpPr/>
          <p:nvPr/>
        </p:nvSpPr>
        <p:spPr>
          <a:xfrm>
            <a:off x="274320" y="914400"/>
            <a:ext cx="859536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Arial Black"/>
              <a:buNone/>
            </a:pPr>
            <a:r>
              <a:rPr lang="en-US" sz="2600">
                <a:solidFill>
                  <a:srgbClr val="FFFFFF"/>
                </a:solidFill>
                <a:latin typeface="Arial Black"/>
                <a:ea typeface="Arial Black"/>
                <a:cs typeface="Arial Black"/>
                <a:sym typeface="Arial Black"/>
              </a:rPr>
              <a:t>Roadmap</a:t>
            </a:r>
            <a:r>
              <a:rPr b="0" i="0" lang="en-US" sz="2600" u="none" cap="none" strike="noStrike">
                <a:solidFill>
                  <a:srgbClr val="FFFFFF"/>
                </a:solidFill>
                <a:latin typeface="Arial Black"/>
                <a:ea typeface="Arial Black"/>
                <a:cs typeface="Arial Black"/>
                <a:sym typeface="Arial Black"/>
              </a:rPr>
              <a:t>: De datos crudos a pipeline automatizado</a:t>
            </a:r>
            <a:endParaRPr b="0" i="0" sz="2600" u="none" cap="none" strike="noStrike">
              <a:solidFill>
                <a:schemeClr val="dk1"/>
              </a:solidFill>
              <a:latin typeface="Calibri"/>
              <a:ea typeface="Calibri"/>
              <a:cs typeface="Calibri"/>
              <a:sym typeface="Calibri"/>
            </a:endParaRPr>
          </a:p>
        </p:txBody>
      </p:sp>
      <p:sp>
        <p:nvSpPr>
          <p:cNvPr id="30" name="Google Shape;30;p2"/>
          <p:cNvSpPr/>
          <p:nvPr/>
        </p:nvSpPr>
        <p:spPr>
          <a:xfrm>
            <a:off x="166305" y="1691640"/>
            <a:ext cx="1965900" cy="31089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166305" y="1691640"/>
            <a:ext cx="1965900" cy="502800"/>
          </a:xfrm>
          <a:prstGeom prst="rect">
            <a:avLst/>
          </a:prstGeom>
          <a:solidFill>
            <a:srgbClr val="7E57C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166305" y="1691640"/>
            <a:ext cx="8229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Arial Black"/>
              <a:buNone/>
            </a:pPr>
            <a:r>
              <a:rPr b="0" i="0" lang="en-US" sz="2000" u="none" cap="none" strike="noStrike">
                <a:solidFill>
                  <a:srgbClr val="FFFFFF"/>
                </a:solidFill>
                <a:latin typeface="Arial Black"/>
                <a:ea typeface="Arial Black"/>
                <a:cs typeface="Arial Black"/>
                <a:sym typeface="Arial Black"/>
              </a:rPr>
              <a:t>U3</a:t>
            </a:r>
            <a:endParaRPr b="0" i="0" sz="2000" u="none" cap="none" strike="noStrike">
              <a:solidFill>
                <a:schemeClr val="dk1"/>
              </a:solidFill>
              <a:latin typeface="Calibri"/>
              <a:ea typeface="Calibri"/>
              <a:cs typeface="Calibri"/>
              <a:sym typeface="Calibri"/>
            </a:endParaRPr>
          </a:p>
        </p:txBody>
      </p:sp>
      <p:sp>
        <p:nvSpPr>
          <p:cNvPr id="33" name="Google Shape;33;p2"/>
          <p:cNvSpPr/>
          <p:nvPr/>
        </p:nvSpPr>
        <p:spPr>
          <a:xfrm>
            <a:off x="897825" y="1691640"/>
            <a:ext cx="12345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Calidad de Datos</a:t>
            </a:r>
            <a:endParaRPr b="0" i="0" sz="1000" u="none" cap="none" strike="noStrike">
              <a:solidFill>
                <a:schemeClr val="dk1"/>
              </a:solidFill>
              <a:latin typeface="Calibri"/>
              <a:ea typeface="Calibri"/>
              <a:cs typeface="Calibri"/>
              <a:sym typeface="Calibri"/>
            </a:endParaRPr>
          </a:p>
        </p:txBody>
      </p:sp>
      <p:sp>
        <p:nvSpPr>
          <p:cNvPr id="34" name="Google Shape;34;p2"/>
          <p:cNvSpPr/>
          <p:nvPr/>
        </p:nvSpPr>
        <p:spPr>
          <a:xfrm>
            <a:off x="257745" y="2286000"/>
            <a:ext cx="1783200" cy="548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000"/>
              <a:buFont typeface="Calibri"/>
              <a:buNone/>
            </a:pPr>
            <a:r>
              <a:rPr b="1" i="1" lang="en-US" sz="1000" u="none" cap="none" strike="noStrike">
                <a:solidFill>
                  <a:srgbClr val="2C3E50"/>
                </a:solidFill>
                <a:latin typeface="Calibri"/>
                <a:ea typeface="Calibri"/>
                <a:cs typeface="Calibri"/>
                <a:sym typeface="Calibri"/>
              </a:rPr>
              <a:t>¿Podemos confiar</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1000"/>
              <a:buFont typeface="Calibri"/>
              <a:buNone/>
            </a:pPr>
            <a:r>
              <a:rPr b="1" i="1" lang="en-US" sz="1000" u="none" cap="none" strike="noStrike">
                <a:solidFill>
                  <a:srgbClr val="2C3E50"/>
                </a:solidFill>
                <a:latin typeface="Calibri"/>
                <a:ea typeface="Calibri"/>
                <a:cs typeface="Calibri"/>
                <a:sym typeface="Calibri"/>
              </a:rPr>
              <a:t>en estos datos?</a:t>
            </a:r>
            <a:endParaRPr b="0" i="0" sz="1000" u="none" cap="none" strike="noStrike">
              <a:solidFill>
                <a:schemeClr val="dk1"/>
              </a:solidFill>
              <a:latin typeface="Calibri"/>
              <a:ea typeface="Calibri"/>
              <a:cs typeface="Calibri"/>
              <a:sym typeface="Calibri"/>
            </a:endParaRPr>
          </a:p>
        </p:txBody>
      </p:sp>
      <p:sp>
        <p:nvSpPr>
          <p:cNvPr id="35" name="Google Shape;35;p2"/>
          <p:cNvSpPr/>
          <p:nvPr/>
        </p:nvSpPr>
        <p:spPr>
          <a:xfrm>
            <a:off x="257745" y="2880360"/>
            <a:ext cx="1783200" cy="365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99999"/>
              </a:buClr>
              <a:buSzPts val="900"/>
              <a:buFont typeface="Calibri"/>
              <a:buNone/>
            </a:pPr>
            <a:r>
              <a:rPr b="0" i="0" lang="en-US" sz="900" u="none" cap="none" strike="noStrike">
                <a:solidFill>
                  <a:srgbClr val="999999"/>
                </a:solidFill>
                <a:latin typeface="Calibri"/>
                <a:ea typeface="Calibri"/>
                <a:cs typeface="Calibri"/>
                <a:sym typeface="Calibri"/>
              </a:rPr>
              <a:t>SHAP + Análisis de sesgo</a:t>
            </a:r>
            <a:endParaRPr b="0" i="0" sz="900" u="none" cap="none" strike="noStrike">
              <a:solidFill>
                <a:schemeClr val="dk1"/>
              </a:solidFill>
              <a:latin typeface="Calibri"/>
              <a:ea typeface="Calibri"/>
              <a:cs typeface="Calibri"/>
              <a:sym typeface="Calibri"/>
            </a:endParaRPr>
          </a:p>
        </p:txBody>
      </p:sp>
      <p:cxnSp>
        <p:nvCxnSpPr>
          <p:cNvPr id="36" name="Google Shape;36;p2"/>
          <p:cNvCxnSpPr/>
          <p:nvPr/>
        </p:nvCxnSpPr>
        <p:spPr>
          <a:xfrm>
            <a:off x="440625" y="3291840"/>
            <a:ext cx="1417200" cy="0"/>
          </a:xfrm>
          <a:prstGeom prst="straightConnector1">
            <a:avLst/>
          </a:prstGeom>
          <a:noFill/>
          <a:ln cap="flat" cmpd="sng" w="12700">
            <a:solidFill>
              <a:srgbClr val="E0E0E0"/>
            </a:solidFill>
            <a:prstDash val="solid"/>
            <a:round/>
            <a:headEnd len="sm" w="sm" type="none"/>
            <a:tailEnd len="sm" w="sm" type="none"/>
          </a:ln>
        </p:spPr>
      </p:cxnSp>
      <p:sp>
        <p:nvSpPr>
          <p:cNvPr id="37" name="Google Shape;37;p2"/>
          <p:cNvSpPr/>
          <p:nvPr/>
        </p:nvSpPr>
        <p:spPr>
          <a:xfrm>
            <a:off x="257745" y="3383280"/>
            <a:ext cx="1783200" cy="548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Detectamos sesgo por</a:t>
            </a:r>
            <a:endParaRPr b="0" i="0" sz="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SeniorCitizen en el dataset</a:t>
            </a:r>
            <a:endParaRPr b="0" i="0" sz="900" u="none" cap="none" strike="noStrike">
              <a:solidFill>
                <a:schemeClr val="dk1"/>
              </a:solidFill>
              <a:latin typeface="Calibri"/>
              <a:ea typeface="Calibri"/>
              <a:cs typeface="Calibri"/>
              <a:sym typeface="Calibri"/>
            </a:endParaRPr>
          </a:p>
        </p:txBody>
      </p:sp>
      <p:sp>
        <p:nvSpPr>
          <p:cNvPr id="38" name="Google Shape;38;p2"/>
          <p:cNvSpPr/>
          <p:nvPr/>
        </p:nvSpPr>
        <p:spPr>
          <a:xfrm>
            <a:off x="2021200" y="2651760"/>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E2EA61"/>
              </a:buClr>
              <a:buSzPts val="2000"/>
              <a:buFont typeface="Calibri"/>
              <a:buNone/>
            </a:pPr>
            <a:r>
              <a:rPr b="0" i="0" lang="en-US" sz="2000" u="none" cap="none" strike="noStrike">
                <a:solidFill>
                  <a:srgbClr val="E2EA61"/>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39" name="Google Shape;39;p2"/>
          <p:cNvSpPr/>
          <p:nvPr/>
        </p:nvSpPr>
        <p:spPr>
          <a:xfrm>
            <a:off x="2403521" y="1691640"/>
            <a:ext cx="1965900" cy="31089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2403521" y="1691640"/>
            <a:ext cx="1965900" cy="502800"/>
          </a:xfrm>
          <a:prstGeom prst="rect">
            <a:avLst/>
          </a:prstGeom>
          <a:solidFill>
            <a:srgbClr val="42A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2403521" y="1691640"/>
            <a:ext cx="8229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Arial Black"/>
              <a:buNone/>
            </a:pPr>
            <a:r>
              <a:rPr b="0" i="0" lang="en-US" sz="2000" u="none" cap="none" strike="noStrike">
                <a:solidFill>
                  <a:srgbClr val="FFFFFF"/>
                </a:solidFill>
                <a:latin typeface="Arial Black"/>
                <a:ea typeface="Arial Black"/>
                <a:cs typeface="Arial Black"/>
                <a:sym typeface="Arial Black"/>
              </a:rPr>
              <a:t>U4</a:t>
            </a:r>
            <a:endParaRPr b="0" i="0" sz="2000" u="none" cap="none" strike="noStrike">
              <a:solidFill>
                <a:schemeClr val="dk1"/>
              </a:solidFill>
              <a:latin typeface="Calibri"/>
              <a:ea typeface="Calibri"/>
              <a:cs typeface="Calibri"/>
              <a:sym typeface="Calibri"/>
            </a:endParaRPr>
          </a:p>
        </p:txBody>
      </p:sp>
      <p:sp>
        <p:nvSpPr>
          <p:cNvPr id="42" name="Google Shape;42;p2"/>
          <p:cNvSpPr/>
          <p:nvPr/>
        </p:nvSpPr>
        <p:spPr>
          <a:xfrm>
            <a:off x="3135041" y="1691640"/>
            <a:ext cx="12345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Entrenamiento</a:t>
            </a:r>
            <a:endParaRPr b="0" i="0" sz="1000" u="none" cap="none" strike="noStrike">
              <a:solidFill>
                <a:schemeClr val="dk1"/>
              </a:solidFill>
              <a:latin typeface="Calibri"/>
              <a:ea typeface="Calibri"/>
              <a:cs typeface="Calibri"/>
              <a:sym typeface="Calibri"/>
            </a:endParaRPr>
          </a:p>
        </p:txBody>
      </p:sp>
      <p:sp>
        <p:nvSpPr>
          <p:cNvPr id="43" name="Google Shape;43;p2"/>
          <p:cNvSpPr/>
          <p:nvPr/>
        </p:nvSpPr>
        <p:spPr>
          <a:xfrm>
            <a:off x="2494961" y="2286000"/>
            <a:ext cx="1783200" cy="548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000"/>
              <a:buFont typeface="Calibri"/>
              <a:buNone/>
            </a:pPr>
            <a:r>
              <a:rPr b="1" i="1" lang="en-US" sz="1000" u="none" cap="none" strike="noStrike">
                <a:solidFill>
                  <a:srgbClr val="2C3E50"/>
                </a:solidFill>
                <a:latin typeface="Calibri"/>
                <a:ea typeface="Calibri"/>
                <a:cs typeface="Calibri"/>
                <a:sym typeface="Calibri"/>
              </a:rPr>
              <a:t>¿Podemos entrenar un</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1000"/>
              <a:buFont typeface="Calibri"/>
              <a:buNone/>
            </a:pPr>
            <a:r>
              <a:rPr b="1" i="1" lang="en-US" sz="1000" u="none" cap="none" strike="noStrike">
                <a:solidFill>
                  <a:srgbClr val="2C3E50"/>
                </a:solidFill>
                <a:latin typeface="Calibri"/>
                <a:ea typeface="Calibri"/>
                <a:cs typeface="Calibri"/>
                <a:sym typeface="Calibri"/>
              </a:rPr>
              <a:t>modelo confiable?</a:t>
            </a:r>
            <a:endParaRPr b="0" i="0" sz="1000" u="none" cap="none" strike="noStrike">
              <a:solidFill>
                <a:schemeClr val="dk1"/>
              </a:solidFill>
              <a:latin typeface="Calibri"/>
              <a:ea typeface="Calibri"/>
              <a:cs typeface="Calibri"/>
              <a:sym typeface="Calibri"/>
            </a:endParaRPr>
          </a:p>
        </p:txBody>
      </p:sp>
      <p:sp>
        <p:nvSpPr>
          <p:cNvPr id="44" name="Google Shape;44;p2"/>
          <p:cNvSpPr/>
          <p:nvPr/>
        </p:nvSpPr>
        <p:spPr>
          <a:xfrm>
            <a:off x="2494961" y="2880360"/>
            <a:ext cx="1783200" cy="365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99999"/>
              </a:buClr>
              <a:buSzPts val="900"/>
              <a:buFont typeface="Calibri"/>
              <a:buNone/>
            </a:pPr>
            <a:r>
              <a:rPr b="0" i="0" lang="en-US" sz="900" u="none" cap="none" strike="noStrike">
                <a:solidFill>
                  <a:srgbClr val="999999"/>
                </a:solidFill>
                <a:latin typeface="Calibri"/>
                <a:ea typeface="Calibri"/>
                <a:cs typeface="Calibri"/>
                <a:sym typeface="Calibri"/>
              </a:rPr>
              <a:t>BigQuery + Optuna + XGBoost</a:t>
            </a:r>
            <a:endParaRPr b="0" i="0" sz="900" u="none" cap="none" strike="noStrike">
              <a:solidFill>
                <a:schemeClr val="dk1"/>
              </a:solidFill>
              <a:latin typeface="Calibri"/>
              <a:ea typeface="Calibri"/>
              <a:cs typeface="Calibri"/>
              <a:sym typeface="Calibri"/>
            </a:endParaRPr>
          </a:p>
        </p:txBody>
      </p:sp>
      <p:cxnSp>
        <p:nvCxnSpPr>
          <p:cNvPr id="45" name="Google Shape;45;p2"/>
          <p:cNvCxnSpPr/>
          <p:nvPr/>
        </p:nvCxnSpPr>
        <p:spPr>
          <a:xfrm>
            <a:off x="2677841" y="3291840"/>
            <a:ext cx="1417200" cy="0"/>
          </a:xfrm>
          <a:prstGeom prst="straightConnector1">
            <a:avLst/>
          </a:prstGeom>
          <a:noFill/>
          <a:ln cap="flat" cmpd="sng" w="12700">
            <a:solidFill>
              <a:srgbClr val="E0E0E0"/>
            </a:solidFill>
            <a:prstDash val="solid"/>
            <a:round/>
            <a:headEnd len="sm" w="sm" type="none"/>
            <a:tailEnd len="sm" w="sm" type="none"/>
          </a:ln>
        </p:spPr>
      </p:cxnSp>
      <p:sp>
        <p:nvSpPr>
          <p:cNvPr id="46" name="Google Shape;46;p2"/>
          <p:cNvSpPr/>
          <p:nvPr/>
        </p:nvSpPr>
        <p:spPr>
          <a:xfrm>
            <a:off x="2494961" y="3383280"/>
            <a:ext cx="1783200" cy="548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Modelo entrenado y</a:t>
            </a:r>
            <a:endParaRPr b="0" i="0" sz="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versionado en GCS</a:t>
            </a:r>
            <a:endParaRPr b="0" i="0" sz="900" u="none" cap="none" strike="noStrike">
              <a:solidFill>
                <a:schemeClr val="dk1"/>
              </a:solidFill>
              <a:latin typeface="Calibri"/>
              <a:ea typeface="Calibri"/>
              <a:cs typeface="Calibri"/>
              <a:sym typeface="Calibri"/>
            </a:endParaRPr>
          </a:p>
        </p:txBody>
      </p:sp>
      <p:sp>
        <p:nvSpPr>
          <p:cNvPr id="47" name="Google Shape;47;p2"/>
          <p:cNvSpPr/>
          <p:nvPr/>
        </p:nvSpPr>
        <p:spPr>
          <a:xfrm>
            <a:off x="4340022" y="2651760"/>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E2EA61"/>
              </a:buClr>
              <a:buSzPts val="2000"/>
              <a:buFont typeface="Calibri"/>
              <a:buNone/>
            </a:pPr>
            <a:r>
              <a:rPr b="0" i="0" lang="en-US" sz="2000" u="none" cap="none" strike="noStrike">
                <a:solidFill>
                  <a:srgbClr val="E2EA61"/>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48" name="Google Shape;48;p2"/>
          <p:cNvSpPr/>
          <p:nvPr/>
        </p:nvSpPr>
        <p:spPr>
          <a:xfrm>
            <a:off x="4699655" y="1691640"/>
            <a:ext cx="1965900" cy="31089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
          <p:cNvSpPr/>
          <p:nvPr/>
        </p:nvSpPr>
        <p:spPr>
          <a:xfrm>
            <a:off x="4699655" y="1691640"/>
            <a:ext cx="1965900" cy="502800"/>
          </a:xfrm>
          <a:prstGeom prst="rect">
            <a:avLst/>
          </a:prstGeom>
          <a:solidFill>
            <a:srgbClr val="26A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4699655" y="1691640"/>
            <a:ext cx="8229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Arial Black"/>
              <a:buNone/>
            </a:pPr>
            <a:r>
              <a:rPr b="0" i="0" lang="en-US" sz="2000" u="none" cap="none" strike="noStrike">
                <a:solidFill>
                  <a:srgbClr val="FFFFFF"/>
                </a:solidFill>
                <a:latin typeface="Arial Black"/>
                <a:ea typeface="Arial Black"/>
                <a:cs typeface="Arial Black"/>
                <a:sym typeface="Arial Black"/>
              </a:rPr>
              <a:t>U5</a:t>
            </a:r>
            <a:endParaRPr b="0" i="0" sz="2000" u="none" cap="none" strike="noStrike">
              <a:solidFill>
                <a:schemeClr val="dk1"/>
              </a:solidFill>
              <a:latin typeface="Calibri"/>
              <a:ea typeface="Calibri"/>
              <a:cs typeface="Calibri"/>
              <a:sym typeface="Calibri"/>
            </a:endParaRPr>
          </a:p>
        </p:txBody>
      </p:sp>
      <p:sp>
        <p:nvSpPr>
          <p:cNvPr id="51" name="Google Shape;51;p2"/>
          <p:cNvSpPr/>
          <p:nvPr/>
        </p:nvSpPr>
        <p:spPr>
          <a:xfrm>
            <a:off x="5431175" y="1691640"/>
            <a:ext cx="12345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API de Servicio</a:t>
            </a:r>
            <a:endParaRPr b="0" i="0" sz="1000" u="none" cap="none" strike="noStrike">
              <a:solidFill>
                <a:schemeClr val="dk1"/>
              </a:solidFill>
              <a:latin typeface="Calibri"/>
              <a:ea typeface="Calibri"/>
              <a:cs typeface="Calibri"/>
              <a:sym typeface="Calibri"/>
            </a:endParaRPr>
          </a:p>
        </p:txBody>
      </p:sp>
      <p:sp>
        <p:nvSpPr>
          <p:cNvPr id="52" name="Google Shape;52;p2"/>
          <p:cNvSpPr/>
          <p:nvPr/>
        </p:nvSpPr>
        <p:spPr>
          <a:xfrm>
            <a:off x="4791095" y="2286000"/>
            <a:ext cx="1783200" cy="548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000"/>
              <a:buFont typeface="Calibri"/>
              <a:buNone/>
            </a:pPr>
            <a:r>
              <a:rPr b="1" i="1" lang="en-US" sz="1000" u="none" cap="none" strike="noStrike">
                <a:solidFill>
                  <a:srgbClr val="2C3E50"/>
                </a:solidFill>
                <a:latin typeface="Calibri"/>
                <a:ea typeface="Calibri"/>
                <a:cs typeface="Calibri"/>
                <a:sym typeface="Calibri"/>
              </a:rPr>
              <a:t>¿Podemos servir el</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1000"/>
              <a:buFont typeface="Calibri"/>
              <a:buNone/>
            </a:pPr>
            <a:r>
              <a:rPr b="1" i="1" lang="en-US" sz="1000" u="none" cap="none" strike="noStrike">
                <a:solidFill>
                  <a:srgbClr val="2C3E50"/>
                </a:solidFill>
                <a:latin typeface="Calibri"/>
                <a:ea typeface="Calibri"/>
                <a:cs typeface="Calibri"/>
                <a:sym typeface="Calibri"/>
              </a:rPr>
              <a:t>modelo como producto?</a:t>
            </a:r>
            <a:endParaRPr b="0" i="0" sz="1000" u="none" cap="none" strike="noStrike">
              <a:solidFill>
                <a:schemeClr val="dk1"/>
              </a:solidFill>
              <a:latin typeface="Calibri"/>
              <a:ea typeface="Calibri"/>
              <a:cs typeface="Calibri"/>
              <a:sym typeface="Calibri"/>
            </a:endParaRPr>
          </a:p>
        </p:txBody>
      </p:sp>
      <p:sp>
        <p:nvSpPr>
          <p:cNvPr id="53" name="Google Shape;53;p2"/>
          <p:cNvSpPr/>
          <p:nvPr/>
        </p:nvSpPr>
        <p:spPr>
          <a:xfrm>
            <a:off x="4791095" y="2880360"/>
            <a:ext cx="1783200" cy="365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99999"/>
              </a:buClr>
              <a:buSzPts val="900"/>
              <a:buFont typeface="Calibri"/>
              <a:buNone/>
            </a:pPr>
            <a:r>
              <a:rPr b="0" i="0" lang="en-US" sz="900" u="none" cap="none" strike="noStrike">
                <a:solidFill>
                  <a:srgbClr val="999999"/>
                </a:solidFill>
                <a:latin typeface="Calibri"/>
                <a:ea typeface="Calibri"/>
                <a:cs typeface="Calibri"/>
                <a:sym typeface="Calibri"/>
              </a:rPr>
              <a:t>FastAPI + Pydantic + Cloud Run</a:t>
            </a:r>
            <a:endParaRPr b="0" i="0" sz="900" u="none" cap="none" strike="noStrike">
              <a:solidFill>
                <a:schemeClr val="dk1"/>
              </a:solidFill>
              <a:latin typeface="Calibri"/>
              <a:ea typeface="Calibri"/>
              <a:cs typeface="Calibri"/>
              <a:sym typeface="Calibri"/>
            </a:endParaRPr>
          </a:p>
        </p:txBody>
      </p:sp>
      <p:cxnSp>
        <p:nvCxnSpPr>
          <p:cNvPr id="54" name="Google Shape;54;p2"/>
          <p:cNvCxnSpPr/>
          <p:nvPr/>
        </p:nvCxnSpPr>
        <p:spPr>
          <a:xfrm>
            <a:off x="4973975" y="3291840"/>
            <a:ext cx="1417200" cy="0"/>
          </a:xfrm>
          <a:prstGeom prst="straightConnector1">
            <a:avLst/>
          </a:prstGeom>
          <a:noFill/>
          <a:ln cap="flat" cmpd="sng" w="12700">
            <a:solidFill>
              <a:srgbClr val="E0E0E0"/>
            </a:solidFill>
            <a:prstDash val="solid"/>
            <a:round/>
            <a:headEnd len="sm" w="sm" type="none"/>
            <a:tailEnd len="sm" w="sm" type="none"/>
          </a:ln>
        </p:spPr>
      </p:cxnSp>
      <p:sp>
        <p:nvSpPr>
          <p:cNvPr id="55" name="Google Shape;55;p2"/>
          <p:cNvSpPr/>
          <p:nvPr/>
        </p:nvSpPr>
        <p:spPr>
          <a:xfrm>
            <a:off x="4791095" y="3383280"/>
            <a:ext cx="1783200" cy="548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Contrato de datos +</a:t>
            </a:r>
            <a:endParaRPr b="0" i="0" sz="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API en producción</a:t>
            </a:r>
            <a:endParaRPr b="0" i="0" sz="900" u="none" cap="none" strike="noStrike">
              <a:solidFill>
                <a:schemeClr val="dk1"/>
              </a:solidFill>
              <a:latin typeface="Calibri"/>
              <a:ea typeface="Calibri"/>
              <a:cs typeface="Calibri"/>
              <a:sym typeface="Calibri"/>
            </a:endParaRPr>
          </a:p>
        </p:txBody>
      </p:sp>
      <p:sp>
        <p:nvSpPr>
          <p:cNvPr id="56" name="Google Shape;56;p2"/>
          <p:cNvSpPr/>
          <p:nvPr/>
        </p:nvSpPr>
        <p:spPr>
          <a:xfrm>
            <a:off x="6665615" y="2651760"/>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E2EA61"/>
              </a:buClr>
              <a:buSzPts val="2000"/>
              <a:buFont typeface="Calibri"/>
              <a:buNone/>
            </a:pPr>
            <a:r>
              <a:rPr b="0" i="0" lang="en-US" sz="2000" u="none" cap="none" strike="noStrike">
                <a:solidFill>
                  <a:srgbClr val="E2EA61"/>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57" name="Google Shape;57;p2"/>
          <p:cNvSpPr/>
          <p:nvPr/>
        </p:nvSpPr>
        <p:spPr>
          <a:xfrm>
            <a:off x="7025247" y="1691640"/>
            <a:ext cx="1965900" cy="31089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
          <p:cNvSpPr/>
          <p:nvPr/>
        </p:nvSpPr>
        <p:spPr>
          <a:xfrm>
            <a:off x="7025247" y="1691640"/>
            <a:ext cx="1965900" cy="502800"/>
          </a:xfrm>
          <a:prstGeom prst="rect">
            <a:avLst/>
          </a:prstGeom>
          <a:solidFill>
            <a:srgbClr val="E2E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
          <p:cNvSpPr/>
          <p:nvPr/>
        </p:nvSpPr>
        <p:spPr>
          <a:xfrm>
            <a:off x="7025247" y="1691640"/>
            <a:ext cx="8229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2000"/>
              <a:buFont typeface="Arial Black"/>
              <a:buNone/>
            </a:pPr>
            <a:r>
              <a:rPr b="0" i="0" lang="en-US" sz="2000" u="none" cap="none" strike="noStrike">
                <a:solidFill>
                  <a:srgbClr val="2C3E50"/>
                </a:solidFill>
                <a:latin typeface="Arial Black"/>
                <a:ea typeface="Arial Black"/>
                <a:cs typeface="Arial Black"/>
                <a:sym typeface="Arial Black"/>
              </a:rPr>
              <a:t>U6</a:t>
            </a:r>
            <a:endParaRPr b="0" i="0" sz="2000" u="none" cap="none" strike="noStrike">
              <a:solidFill>
                <a:schemeClr val="dk1"/>
              </a:solidFill>
              <a:latin typeface="Calibri"/>
              <a:ea typeface="Calibri"/>
              <a:cs typeface="Calibri"/>
              <a:sym typeface="Calibri"/>
            </a:endParaRPr>
          </a:p>
        </p:txBody>
      </p:sp>
      <p:sp>
        <p:nvSpPr>
          <p:cNvPr id="60" name="Google Shape;60;p2"/>
          <p:cNvSpPr/>
          <p:nvPr/>
        </p:nvSpPr>
        <p:spPr>
          <a:xfrm>
            <a:off x="7756767" y="1691640"/>
            <a:ext cx="12345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000"/>
              <a:buFont typeface="Calibri"/>
              <a:buNone/>
            </a:pPr>
            <a:r>
              <a:rPr b="0" i="0" lang="en-US" sz="1000" u="none" cap="none" strike="noStrike">
                <a:solidFill>
                  <a:srgbClr val="2C3E50"/>
                </a:solidFill>
                <a:latin typeface="Calibri"/>
                <a:ea typeface="Calibri"/>
                <a:cs typeface="Calibri"/>
                <a:sym typeface="Calibri"/>
              </a:rPr>
              <a:t>Automatización</a:t>
            </a:r>
            <a:endParaRPr b="0" i="0" sz="1000" u="none" cap="none" strike="noStrike">
              <a:solidFill>
                <a:schemeClr val="dk1"/>
              </a:solidFill>
              <a:latin typeface="Calibri"/>
              <a:ea typeface="Calibri"/>
              <a:cs typeface="Calibri"/>
              <a:sym typeface="Calibri"/>
            </a:endParaRPr>
          </a:p>
        </p:txBody>
      </p:sp>
      <p:sp>
        <p:nvSpPr>
          <p:cNvPr id="61" name="Google Shape;61;p2"/>
          <p:cNvSpPr/>
          <p:nvPr/>
        </p:nvSpPr>
        <p:spPr>
          <a:xfrm>
            <a:off x="7116687" y="2286000"/>
            <a:ext cx="1783200" cy="548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000"/>
              <a:buFont typeface="Calibri"/>
              <a:buNone/>
            </a:pPr>
            <a:r>
              <a:rPr b="1" i="1" lang="en-US" sz="1000" u="none" cap="none" strike="noStrike">
                <a:solidFill>
                  <a:srgbClr val="2C3E50"/>
                </a:solidFill>
                <a:latin typeface="Calibri"/>
                <a:ea typeface="Calibri"/>
                <a:cs typeface="Calibri"/>
                <a:sym typeface="Calibri"/>
              </a:rPr>
              <a:t>¿Podemos automatizar</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1000"/>
              <a:buFont typeface="Calibri"/>
              <a:buNone/>
            </a:pPr>
            <a:r>
              <a:rPr b="1" i="1" lang="en-US" sz="1000" u="none" cap="none" strike="noStrike">
                <a:solidFill>
                  <a:srgbClr val="2C3E50"/>
                </a:solidFill>
                <a:latin typeface="Calibri"/>
                <a:ea typeface="Calibri"/>
                <a:cs typeface="Calibri"/>
                <a:sym typeface="Calibri"/>
              </a:rPr>
              <a:t>y realizar un pipeline para tracking de resultados?</a:t>
            </a:r>
            <a:endParaRPr b="0" i="0" sz="1000" u="none" cap="none" strike="noStrike">
              <a:solidFill>
                <a:schemeClr val="dk1"/>
              </a:solidFill>
              <a:latin typeface="Calibri"/>
              <a:ea typeface="Calibri"/>
              <a:cs typeface="Calibri"/>
              <a:sym typeface="Calibri"/>
            </a:endParaRPr>
          </a:p>
        </p:txBody>
      </p:sp>
      <p:sp>
        <p:nvSpPr>
          <p:cNvPr id="62" name="Google Shape;62;p2"/>
          <p:cNvSpPr/>
          <p:nvPr/>
        </p:nvSpPr>
        <p:spPr>
          <a:xfrm>
            <a:off x="7116687" y="2880360"/>
            <a:ext cx="1783200" cy="365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99999"/>
              </a:buClr>
              <a:buSzPts val="900"/>
              <a:buFont typeface="Calibri"/>
              <a:buNone/>
            </a:pPr>
            <a:r>
              <a:rPr b="0" i="0" lang="en-US" sz="900" u="none" cap="none" strike="noStrike">
                <a:solidFill>
                  <a:srgbClr val="999999"/>
                </a:solidFill>
                <a:latin typeface="Calibri"/>
                <a:ea typeface="Calibri"/>
                <a:cs typeface="Calibri"/>
                <a:sym typeface="Calibri"/>
              </a:rPr>
              <a:t>Airflow + BigQuery + GCS</a:t>
            </a:r>
            <a:endParaRPr b="0" i="0" sz="900" u="none" cap="none" strike="noStrike">
              <a:solidFill>
                <a:schemeClr val="dk1"/>
              </a:solidFill>
              <a:latin typeface="Calibri"/>
              <a:ea typeface="Calibri"/>
              <a:cs typeface="Calibri"/>
              <a:sym typeface="Calibri"/>
            </a:endParaRPr>
          </a:p>
        </p:txBody>
      </p:sp>
      <p:cxnSp>
        <p:nvCxnSpPr>
          <p:cNvPr id="63" name="Google Shape;63;p2"/>
          <p:cNvCxnSpPr/>
          <p:nvPr/>
        </p:nvCxnSpPr>
        <p:spPr>
          <a:xfrm>
            <a:off x="7299567" y="3291840"/>
            <a:ext cx="1417200" cy="0"/>
          </a:xfrm>
          <a:prstGeom prst="straightConnector1">
            <a:avLst/>
          </a:prstGeom>
          <a:noFill/>
          <a:ln cap="flat" cmpd="sng" w="12700">
            <a:solidFill>
              <a:srgbClr val="E0E0E0"/>
            </a:solidFill>
            <a:prstDash val="solid"/>
            <a:round/>
            <a:headEnd len="sm" w="sm" type="none"/>
            <a:tailEnd len="sm" w="sm" type="none"/>
          </a:ln>
        </p:spPr>
      </p:cxnSp>
      <p:sp>
        <p:nvSpPr>
          <p:cNvPr id="64" name="Google Shape;64;p2"/>
          <p:cNvSpPr/>
          <p:nvPr/>
        </p:nvSpPr>
        <p:spPr>
          <a:xfrm>
            <a:off x="7116687" y="3383280"/>
            <a:ext cx="1783200" cy="548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Pipeline MLOps con</a:t>
            </a:r>
            <a:endParaRPr b="0" i="0" sz="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detección de drift</a:t>
            </a:r>
            <a:endParaRPr b="0" i="0" sz="900" u="none" cap="none" strike="noStrike">
              <a:solidFill>
                <a:schemeClr val="dk1"/>
              </a:solidFill>
              <a:latin typeface="Calibri"/>
              <a:ea typeface="Calibri"/>
              <a:cs typeface="Calibri"/>
              <a:sym typeface="Calibri"/>
            </a:endParaRPr>
          </a:p>
        </p:txBody>
      </p:sp>
      <p:sp>
        <p:nvSpPr>
          <p:cNvPr id="65" name="Google Shape;65;p2"/>
          <p:cNvSpPr/>
          <p:nvPr/>
        </p:nvSpPr>
        <p:spPr>
          <a:xfrm>
            <a:off x="7025247" y="4800600"/>
            <a:ext cx="1965900" cy="274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E2EA61"/>
              </a:buClr>
              <a:buSzPts val="1200"/>
              <a:buFont typeface="Arial Black"/>
              <a:buNone/>
            </a:pPr>
            <a:r>
              <a:rPr b="0" i="0" lang="en-US" sz="1200" u="none" cap="none" strike="noStrike">
                <a:solidFill>
                  <a:srgbClr val="E2EA61"/>
                </a:solidFill>
                <a:latin typeface="Arial Black"/>
                <a:ea typeface="Arial Black"/>
                <a:cs typeface="Arial Black"/>
                <a:sym typeface="Arial Black"/>
              </a:rPr>
              <a:t>HOY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pic>
        <p:nvPicPr>
          <p:cNvPr descr="preencoded.png" id="71" name="Google Shape;71;p3"/>
          <p:cNvPicPr preferRelativeResize="0"/>
          <p:nvPr/>
        </p:nvPicPr>
        <p:blipFill rotWithShape="1">
          <a:blip r:embed="rId3">
            <a:alphaModFix/>
          </a:blip>
          <a:srcRect b="0" l="0" r="0" t="0"/>
          <a:stretch/>
        </p:blipFill>
        <p:spPr>
          <a:xfrm>
            <a:off x="274320" y="137160"/>
            <a:ext cx="1188720" cy="493776"/>
          </a:xfrm>
          <a:prstGeom prst="rect">
            <a:avLst/>
          </a:prstGeom>
          <a:noFill/>
          <a:ln>
            <a:noFill/>
          </a:ln>
        </p:spPr>
      </p:pic>
      <p:sp>
        <p:nvSpPr>
          <p:cNvPr id="72" name="Google Shape;72;p3"/>
          <p:cNvSpPr/>
          <p:nvPr/>
        </p:nvSpPr>
        <p:spPr>
          <a:xfrm>
            <a:off x="5029200" y="137160"/>
            <a:ext cx="4114800" cy="457200"/>
          </a:xfrm>
          <a:prstGeom prst="rect">
            <a:avLst/>
          </a:prstGeom>
          <a:solidFill>
            <a:srgbClr val="378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
          <p:cNvSpPr/>
          <p:nvPr/>
        </p:nvSpPr>
        <p:spPr>
          <a:xfrm>
            <a:off x="274320" y="777240"/>
            <a:ext cx="859536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2600"/>
              <a:buFont typeface="Arial Black"/>
              <a:buNone/>
            </a:pPr>
            <a:r>
              <a:rPr b="0" i="0" lang="en-US" sz="2600" u="none" cap="none" strike="noStrike">
                <a:solidFill>
                  <a:srgbClr val="2C3E50"/>
                </a:solidFill>
                <a:latin typeface="Arial Black"/>
                <a:ea typeface="Arial Black"/>
                <a:cs typeface="Arial Black"/>
                <a:sym typeface="Arial Black"/>
              </a:rPr>
              <a:t>Recap U5: ¿Qué logramos?</a:t>
            </a:r>
            <a:endParaRPr b="0" i="0" sz="2600" u="none" cap="none" strike="noStrike">
              <a:solidFill>
                <a:schemeClr val="dk1"/>
              </a:solidFill>
              <a:latin typeface="Calibri"/>
              <a:ea typeface="Calibri"/>
              <a:cs typeface="Calibri"/>
              <a:sym typeface="Calibri"/>
            </a:endParaRPr>
          </a:p>
        </p:txBody>
      </p:sp>
      <p:sp>
        <p:nvSpPr>
          <p:cNvPr id="74" name="Google Shape;74;p3"/>
          <p:cNvSpPr/>
          <p:nvPr/>
        </p:nvSpPr>
        <p:spPr>
          <a:xfrm>
            <a:off x="274320" y="1554480"/>
            <a:ext cx="4114800" cy="3017520"/>
          </a:xfrm>
          <a:prstGeom prst="rect">
            <a:avLst/>
          </a:prstGeom>
          <a:solidFill>
            <a:srgbClr val="F5F5F5"/>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
          <p:cNvSpPr/>
          <p:nvPr/>
        </p:nvSpPr>
        <p:spPr>
          <a:xfrm>
            <a:off x="274320" y="1554480"/>
            <a:ext cx="4114800" cy="457200"/>
          </a:xfrm>
          <a:prstGeom prst="rect">
            <a:avLst/>
          </a:prstGeom>
          <a:solidFill>
            <a:srgbClr val="26A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
          <p:cNvSpPr/>
          <p:nvPr/>
        </p:nvSpPr>
        <p:spPr>
          <a:xfrm>
            <a:off x="274320" y="1554480"/>
            <a:ext cx="41148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Arial Black"/>
              <a:buNone/>
            </a:pPr>
            <a:r>
              <a:rPr b="0" i="0" lang="en-US" sz="1400" u="none" cap="none" strike="noStrike">
                <a:solidFill>
                  <a:srgbClr val="FFFFFF"/>
                </a:solidFill>
                <a:latin typeface="Arial Black"/>
                <a:ea typeface="Arial Black"/>
                <a:cs typeface="Arial Black"/>
                <a:sym typeface="Arial Black"/>
              </a:rPr>
              <a:t>Lo que construimos en U5</a:t>
            </a:r>
            <a:endParaRPr b="0" i="0" sz="1400" u="none" cap="none" strike="noStrike">
              <a:solidFill>
                <a:schemeClr val="dk1"/>
              </a:solidFill>
              <a:latin typeface="Calibri"/>
              <a:ea typeface="Calibri"/>
              <a:cs typeface="Calibri"/>
              <a:sym typeface="Calibri"/>
            </a:endParaRPr>
          </a:p>
        </p:txBody>
      </p:sp>
      <p:sp>
        <p:nvSpPr>
          <p:cNvPr id="77" name="Google Shape;77;p3"/>
          <p:cNvSpPr/>
          <p:nvPr/>
        </p:nvSpPr>
        <p:spPr>
          <a:xfrm>
            <a:off x="457200" y="2103120"/>
            <a:ext cx="3749040" cy="2286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API FastAPI</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Endpoint /predict que recibe el contrato Telco Churn</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Contrato Pydantic</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Valida tipos, rangos y valores permitidos (Errores: 422, etc)</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Vector de features en orden explícito</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FEATURE_ORDER fijo — defensa contra el bug</a:t>
            </a:r>
            <a:r>
              <a:rPr lang="en-US" sz="1100">
                <a:solidFill>
                  <a:srgbClr val="999999"/>
                </a:solidFill>
                <a:latin typeface="Calibri"/>
                <a:ea typeface="Calibri"/>
                <a:cs typeface="Calibri"/>
                <a:sym typeface="Calibri"/>
              </a:rPr>
              <a:t>s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Modelo embebido en el contenedor</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Se descarga de GCS una sola vez, al arrancar</a:t>
            </a:r>
            <a:endParaRPr b="0" i="0" sz="1300" u="none" cap="none" strike="noStrike">
              <a:solidFill>
                <a:schemeClr val="dk1"/>
              </a:solidFill>
              <a:latin typeface="Calibri"/>
              <a:ea typeface="Calibri"/>
              <a:cs typeface="Calibri"/>
              <a:sym typeface="Calibri"/>
            </a:endParaRPr>
          </a:p>
        </p:txBody>
      </p:sp>
      <p:sp>
        <p:nvSpPr>
          <p:cNvPr id="78" name="Google Shape;78;p3"/>
          <p:cNvSpPr/>
          <p:nvPr/>
        </p:nvSpPr>
        <p:spPr>
          <a:xfrm>
            <a:off x="4754880" y="1554480"/>
            <a:ext cx="4114800" cy="3017520"/>
          </a:xfrm>
          <a:prstGeom prst="rect">
            <a:avLst/>
          </a:prstGeom>
          <a:solidFill>
            <a:srgbClr val="F5F5F5"/>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
          <p:cNvSpPr/>
          <p:nvPr/>
        </p:nvSpPr>
        <p:spPr>
          <a:xfrm>
            <a:off x="4754880" y="1554480"/>
            <a:ext cx="4114800" cy="457200"/>
          </a:xfrm>
          <a:prstGeom prst="rect">
            <a:avLst/>
          </a:prstGeom>
          <a:solidFill>
            <a:srgbClr val="5454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3"/>
          <p:cNvSpPr/>
          <p:nvPr/>
        </p:nvSpPr>
        <p:spPr>
          <a:xfrm>
            <a:off x="4754880" y="1554480"/>
            <a:ext cx="41148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Arial Black"/>
              <a:buNone/>
            </a:pPr>
            <a:r>
              <a:rPr b="0" i="0" lang="en-US" sz="1400" u="none" cap="none" strike="noStrike">
                <a:solidFill>
                  <a:srgbClr val="FFFFFF"/>
                </a:solidFill>
                <a:latin typeface="Arial Black"/>
                <a:ea typeface="Arial Black"/>
                <a:cs typeface="Arial Black"/>
                <a:sym typeface="Arial Black"/>
              </a:rPr>
              <a:t>Microservicios GCP utilizados</a:t>
            </a:r>
            <a:endParaRPr b="0" i="0" sz="1400" u="none" cap="none" strike="noStrike">
              <a:solidFill>
                <a:schemeClr val="dk1"/>
              </a:solidFill>
              <a:latin typeface="Calibri"/>
              <a:ea typeface="Calibri"/>
              <a:cs typeface="Calibri"/>
              <a:sym typeface="Calibri"/>
            </a:endParaRPr>
          </a:p>
        </p:txBody>
      </p:sp>
      <p:sp>
        <p:nvSpPr>
          <p:cNvPr id="81" name="Google Shape;81;p3"/>
          <p:cNvSpPr/>
          <p:nvPr/>
        </p:nvSpPr>
        <p:spPr>
          <a:xfrm>
            <a:off x="4937760" y="2148840"/>
            <a:ext cx="3749040" cy="457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
          <p:cNvSpPr/>
          <p:nvPr/>
        </p:nvSpPr>
        <p:spPr>
          <a:xfrm>
            <a:off x="5029200" y="2148840"/>
            <a:ext cx="1828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54E9"/>
              </a:buClr>
              <a:buSzPts val="1100"/>
              <a:buFont typeface="Calibri"/>
              <a:buNone/>
            </a:pPr>
            <a:r>
              <a:rPr b="1" i="0" lang="en-US" sz="1100" u="none" cap="none" strike="noStrike">
                <a:solidFill>
                  <a:srgbClr val="5454E9"/>
                </a:solidFill>
                <a:latin typeface="Calibri"/>
                <a:ea typeface="Calibri"/>
                <a:cs typeface="Calibri"/>
                <a:sym typeface="Calibri"/>
              </a:rPr>
              <a:t>Identidad Real (IAM)</a:t>
            </a:r>
            <a:endParaRPr b="0" i="0" sz="1100" u="none" cap="none" strike="noStrike">
              <a:solidFill>
                <a:schemeClr val="dk1"/>
              </a:solidFill>
              <a:latin typeface="Calibri"/>
              <a:ea typeface="Calibri"/>
              <a:cs typeface="Calibri"/>
              <a:sym typeface="Calibri"/>
            </a:endParaRPr>
          </a:p>
        </p:txBody>
      </p:sp>
      <p:sp>
        <p:nvSpPr>
          <p:cNvPr id="83" name="Google Shape;83;p3"/>
          <p:cNvSpPr/>
          <p:nvPr/>
        </p:nvSpPr>
        <p:spPr>
          <a:xfrm>
            <a:off x="6766560" y="2148840"/>
            <a:ext cx="19202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900"/>
              <a:buFont typeface="Calibri"/>
              <a:buNone/>
            </a:pPr>
            <a:r>
              <a:rPr b="0" i="0" lang="en-US" sz="900" u="none" cap="none" strike="noStrike">
                <a:solidFill>
                  <a:srgbClr val="999999"/>
                </a:solidFill>
                <a:latin typeface="Calibri"/>
                <a:ea typeface="Calibri"/>
                <a:cs typeface="Calibri"/>
                <a:sym typeface="Calibri"/>
              </a:rPr>
              <a:t>JWT decodificado → requested_by real, SA dedicada</a:t>
            </a:r>
            <a:endParaRPr b="0" i="0" sz="900" u="none" cap="none" strike="noStrike">
              <a:solidFill>
                <a:schemeClr val="dk1"/>
              </a:solidFill>
              <a:latin typeface="Calibri"/>
              <a:ea typeface="Calibri"/>
              <a:cs typeface="Calibri"/>
              <a:sym typeface="Calibri"/>
            </a:endParaRPr>
          </a:p>
        </p:txBody>
      </p:sp>
      <p:sp>
        <p:nvSpPr>
          <p:cNvPr id="84" name="Google Shape;84;p3"/>
          <p:cNvSpPr/>
          <p:nvPr/>
        </p:nvSpPr>
        <p:spPr>
          <a:xfrm>
            <a:off x="4937760" y="2697480"/>
            <a:ext cx="3749040" cy="457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3"/>
          <p:cNvSpPr/>
          <p:nvPr/>
        </p:nvSpPr>
        <p:spPr>
          <a:xfrm>
            <a:off x="5029200" y="2697480"/>
            <a:ext cx="1828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54E9"/>
              </a:buClr>
              <a:buSzPts val="1100"/>
              <a:buFont typeface="Calibri"/>
              <a:buNone/>
            </a:pPr>
            <a:r>
              <a:rPr b="1" i="0" lang="en-US" sz="1100" u="none" cap="none" strike="noStrike">
                <a:solidFill>
                  <a:srgbClr val="5454E9"/>
                </a:solidFill>
                <a:latin typeface="Calibri"/>
                <a:ea typeface="Calibri"/>
                <a:cs typeface="Calibri"/>
                <a:sym typeface="Calibri"/>
              </a:rPr>
              <a:t>Cloud Run</a:t>
            </a:r>
            <a:endParaRPr b="0" i="0" sz="1100" u="none" cap="none" strike="noStrike">
              <a:solidFill>
                <a:schemeClr val="dk1"/>
              </a:solidFill>
              <a:latin typeface="Calibri"/>
              <a:ea typeface="Calibri"/>
              <a:cs typeface="Calibri"/>
              <a:sym typeface="Calibri"/>
            </a:endParaRPr>
          </a:p>
        </p:txBody>
      </p:sp>
      <p:sp>
        <p:nvSpPr>
          <p:cNvPr id="86" name="Google Shape;86;p3"/>
          <p:cNvSpPr/>
          <p:nvPr/>
        </p:nvSpPr>
        <p:spPr>
          <a:xfrm>
            <a:off x="6766560" y="2697480"/>
            <a:ext cx="19202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900"/>
              <a:buFont typeface="Calibri"/>
              <a:buNone/>
            </a:pPr>
            <a:r>
              <a:rPr b="0" i="0" lang="en-US" sz="900" u="none" cap="none" strike="noStrike">
                <a:solidFill>
                  <a:srgbClr val="999999"/>
                </a:solidFill>
                <a:latin typeface="Calibri"/>
                <a:ea typeface="Calibri"/>
                <a:cs typeface="Calibri"/>
                <a:sym typeface="Calibri"/>
              </a:rPr>
              <a:t>churn-api autenticado, min-instances=0</a:t>
            </a:r>
            <a:endParaRPr b="0" i="0" sz="900" u="none" cap="none" strike="noStrike">
              <a:solidFill>
                <a:schemeClr val="dk1"/>
              </a:solidFill>
              <a:latin typeface="Calibri"/>
              <a:ea typeface="Calibri"/>
              <a:cs typeface="Calibri"/>
              <a:sym typeface="Calibri"/>
            </a:endParaRPr>
          </a:p>
        </p:txBody>
      </p:sp>
      <p:sp>
        <p:nvSpPr>
          <p:cNvPr id="87" name="Google Shape;87;p3"/>
          <p:cNvSpPr/>
          <p:nvPr/>
        </p:nvSpPr>
        <p:spPr>
          <a:xfrm>
            <a:off x="4937760" y="3246120"/>
            <a:ext cx="3749040" cy="457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3"/>
          <p:cNvSpPr/>
          <p:nvPr/>
        </p:nvSpPr>
        <p:spPr>
          <a:xfrm>
            <a:off x="5029200" y="3246120"/>
            <a:ext cx="1828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54E9"/>
              </a:buClr>
              <a:buSzPts val="1100"/>
              <a:buFont typeface="Calibri"/>
              <a:buNone/>
            </a:pPr>
            <a:r>
              <a:rPr b="1" i="0" lang="en-US" sz="1100" u="none" cap="none" strike="noStrike">
                <a:solidFill>
                  <a:srgbClr val="5454E9"/>
                </a:solidFill>
                <a:latin typeface="Calibri"/>
                <a:ea typeface="Calibri"/>
                <a:cs typeface="Calibri"/>
                <a:sym typeface="Calibri"/>
              </a:rPr>
              <a:t>Cloud Build</a:t>
            </a:r>
            <a:endParaRPr b="0" i="0" sz="1100" u="none" cap="none" strike="noStrike">
              <a:solidFill>
                <a:schemeClr val="dk1"/>
              </a:solidFill>
              <a:latin typeface="Calibri"/>
              <a:ea typeface="Calibri"/>
              <a:cs typeface="Calibri"/>
              <a:sym typeface="Calibri"/>
            </a:endParaRPr>
          </a:p>
        </p:txBody>
      </p:sp>
      <p:sp>
        <p:nvSpPr>
          <p:cNvPr id="89" name="Google Shape;89;p3"/>
          <p:cNvSpPr/>
          <p:nvPr/>
        </p:nvSpPr>
        <p:spPr>
          <a:xfrm>
            <a:off x="6766560" y="3246120"/>
            <a:ext cx="19202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900"/>
              <a:buFont typeface="Calibri"/>
              <a:buNone/>
            </a:pPr>
            <a:r>
              <a:rPr b="0" i="0" lang="en-US" sz="900" u="none" cap="none" strike="noStrike">
                <a:solidFill>
                  <a:srgbClr val="999999"/>
                </a:solidFill>
                <a:latin typeface="Calibri"/>
                <a:ea typeface="Calibri"/>
                <a:cs typeface="Calibri"/>
                <a:sym typeface="Calibri"/>
              </a:rPr>
              <a:t>Construcción automática de imagen Docker</a:t>
            </a:r>
            <a:endParaRPr b="0" i="0" sz="900" u="none" cap="none" strike="noStrike">
              <a:solidFill>
                <a:schemeClr val="dk1"/>
              </a:solidFill>
              <a:latin typeface="Calibri"/>
              <a:ea typeface="Calibri"/>
              <a:cs typeface="Calibri"/>
              <a:sym typeface="Calibri"/>
            </a:endParaRPr>
          </a:p>
        </p:txBody>
      </p:sp>
      <p:sp>
        <p:nvSpPr>
          <p:cNvPr id="90" name="Google Shape;90;p3"/>
          <p:cNvSpPr/>
          <p:nvPr/>
        </p:nvSpPr>
        <p:spPr>
          <a:xfrm>
            <a:off x="4937760" y="3794760"/>
            <a:ext cx="3749040" cy="457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3"/>
          <p:cNvSpPr/>
          <p:nvPr/>
        </p:nvSpPr>
        <p:spPr>
          <a:xfrm>
            <a:off x="5029200" y="3794760"/>
            <a:ext cx="1828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54E9"/>
              </a:buClr>
              <a:buSzPts val="1100"/>
              <a:buFont typeface="Calibri"/>
              <a:buNone/>
            </a:pPr>
            <a:r>
              <a:rPr b="1" i="0" lang="en-US" sz="1100" u="none" cap="none" strike="noStrike">
                <a:solidFill>
                  <a:srgbClr val="5454E9"/>
                </a:solidFill>
                <a:latin typeface="Calibri"/>
                <a:ea typeface="Calibri"/>
                <a:cs typeface="Calibri"/>
                <a:sym typeface="Calibri"/>
              </a:rPr>
              <a:t>Cloud Shell</a:t>
            </a:r>
            <a:endParaRPr b="0" i="0" sz="1100" u="none" cap="none" strike="noStrike">
              <a:solidFill>
                <a:schemeClr val="dk1"/>
              </a:solidFill>
              <a:latin typeface="Calibri"/>
              <a:ea typeface="Calibri"/>
              <a:cs typeface="Calibri"/>
              <a:sym typeface="Calibri"/>
            </a:endParaRPr>
          </a:p>
        </p:txBody>
      </p:sp>
      <p:sp>
        <p:nvSpPr>
          <p:cNvPr id="92" name="Google Shape;92;p3"/>
          <p:cNvSpPr/>
          <p:nvPr/>
        </p:nvSpPr>
        <p:spPr>
          <a:xfrm>
            <a:off x="6766560" y="3794760"/>
            <a:ext cx="19202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900"/>
              <a:buFont typeface="Calibri"/>
              <a:buNone/>
            </a:pPr>
            <a:r>
              <a:rPr b="0" i="0" lang="en-US" sz="900" u="none" cap="none" strike="noStrike">
                <a:solidFill>
                  <a:srgbClr val="999999"/>
                </a:solidFill>
                <a:latin typeface="Calibri"/>
                <a:ea typeface="Calibri"/>
                <a:cs typeface="Calibri"/>
                <a:sym typeface="Calibri"/>
              </a:rPr>
              <a:t>Entorno gratuito de desarrollo y pruebas</a:t>
            </a:r>
            <a:endParaRPr b="0" i="0" sz="900" u="none" cap="none" strike="noStrike">
              <a:solidFill>
                <a:schemeClr val="dk1"/>
              </a:solidFill>
              <a:latin typeface="Calibri"/>
              <a:ea typeface="Calibri"/>
              <a:cs typeface="Calibri"/>
              <a:sym typeface="Calibri"/>
            </a:endParaRPr>
          </a:p>
        </p:txBody>
      </p:sp>
      <p:sp>
        <p:nvSpPr>
          <p:cNvPr id="93" name="Google Shape;93;p3"/>
          <p:cNvSpPr/>
          <p:nvPr/>
        </p:nvSpPr>
        <p:spPr>
          <a:xfrm>
            <a:off x="274320" y="4709160"/>
            <a:ext cx="859536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9683B"/>
              </a:buClr>
              <a:buSzPts val="1000"/>
              <a:buFont typeface="Calibri"/>
              <a:buNone/>
            </a:pPr>
            <a:r>
              <a:rPr b="0" i="1" lang="en-US" sz="1000" u="none" cap="none" strike="noStrike">
                <a:solidFill>
                  <a:srgbClr val="E9683B"/>
                </a:solidFill>
                <a:latin typeface="Calibri"/>
                <a:ea typeface="Calibri"/>
                <a:cs typeface="Calibri"/>
                <a:sym typeface="Calibri"/>
              </a:rPr>
              <a:t>min-instances=0 = $0 en reposo. El servicio se deja arriba, no se borra (a diferencia del Endpoint de Vertex del semestre pasado).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E9"/>
        </a:solidFill>
      </p:bgPr>
    </p:bg>
    <p:spTree>
      <p:nvGrpSpPr>
        <p:cNvPr id="98" name="Shape 98"/>
        <p:cNvGrpSpPr/>
        <p:nvPr/>
      </p:nvGrpSpPr>
      <p:grpSpPr>
        <a:xfrm>
          <a:off x="0" y="0"/>
          <a:ext cx="0" cy="0"/>
          <a:chOff x="0" y="0"/>
          <a:chExt cx="0" cy="0"/>
        </a:xfrm>
      </p:grpSpPr>
      <p:pic>
        <p:nvPicPr>
          <p:cNvPr descr="preencoded.png" id="99" name="Google Shape;99;p4"/>
          <p:cNvPicPr preferRelativeResize="0"/>
          <p:nvPr/>
        </p:nvPicPr>
        <p:blipFill rotWithShape="1">
          <a:blip r:embed="rId3">
            <a:alphaModFix/>
          </a:blip>
          <a:srcRect b="0" l="0" r="0" t="0"/>
          <a:stretch/>
        </p:blipFill>
        <p:spPr>
          <a:xfrm>
            <a:off x="274320" y="228600"/>
            <a:ext cx="1463040" cy="612648"/>
          </a:xfrm>
          <a:prstGeom prst="rect">
            <a:avLst/>
          </a:prstGeom>
          <a:noFill/>
          <a:ln>
            <a:noFill/>
          </a:ln>
        </p:spPr>
      </p:pic>
      <p:sp>
        <p:nvSpPr>
          <p:cNvPr id="100" name="Google Shape;100;p4"/>
          <p:cNvSpPr/>
          <p:nvPr/>
        </p:nvSpPr>
        <p:spPr>
          <a:xfrm>
            <a:off x="457200" y="109728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400"/>
              <a:buFont typeface="Arial Black"/>
              <a:buNone/>
            </a:pPr>
            <a:r>
              <a:rPr b="0" i="0" lang="en-US" sz="2400" u="none" cap="none" strike="noStrike">
                <a:solidFill>
                  <a:srgbClr val="FFFFFF"/>
                </a:solidFill>
                <a:latin typeface="Arial Black"/>
                <a:ea typeface="Arial Black"/>
                <a:cs typeface="Arial Black"/>
                <a:sym typeface="Arial Black"/>
              </a:rPr>
              <a:t>La API de U5 funciona perfecto para 1 registro, en tiempo real...</a:t>
            </a:r>
            <a:endParaRPr b="0" i="0" sz="2400" u="none" cap="none" strike="noStrike">
              <a:solidFill>
                <a:schemeClr val="dk1"/>
              </a:solidFill>
              <a:latin typeface="Calibri"/>
              <a:ea typeface="Calibri"/>
              <a:cs typeface="Calibri"/>
              <a:sym typeface="Calibri"/>
            </a:endParaRPr>
          </a:p>
        </p:txBody>
      </p:sp>
      <p:sp>
        <p:nvSpPr>
          <p:cNvPr id="101" name="Google Shape;101;p4"/>
          <p:cNvSpPr/>
          <p:nvPr/>
        </p:nvSpPr>
        <p:spPr>
          <a:xfrm>
            <a:off x="457200" y="1737360"/>
            <a:ext cx="82296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2EA61"/>
              </a:buClr>
              <a:buSzPts val="1800"/>
              <a:buFont typeface="Calibri"/>
              <a:buNone/>
            </a:pPr>
            <a:r>
              <a:rPr b="0" i="0" lang="en-US" sz="1800" u="none" cap="none" strike="noStrike">
                <a:solidFill>
                  <a:srgbClr val="E2EA61"/>
                </a:solidFill>
                <a:latin typeface="Calibri"/>
                <a:ea typeface="Calibri"/>
                <a:cs typeface="Calibri"/>
                <a:sym typeface="Calibri"/>
              </a:rPr>
              <a:t>Pero en producción:</a:t>
            </a:r>
            <a:endParaRPr b="0" i="0" sz="1800" u="none" cap="none" strike="noStrike">
              <a:solidFill>
                <a:schemeClr val="dk1"/>
              </a:solidFill>
              <a:latin typeface="Calibri"/>
              <a:ea typeface="Calibri"/>
              <a:cs typeface="Calibri"/>
              <a:sym typeface="Calibri"/>
            </a:endParaRPr>
          </a:p>
        </p:txBody>
      </p:sp>
      <p:sp>
        <p:nvSpPr>
          <p:cNvPr id="102" name="Google Shape;102;p4"/>
          <p:cNvSpPr/>
          <p:nvPr/>
        </p:nvSpPr>
        <p:spPr>
          <a:xfrm>
            <a:off x="731520" y="2377440"/>
            <a:ext cx="7680960" cy="457200"/>
          </a:xfrm>
          <a:prstGeom prst="rect">
            <a:avLst/>
          </a:prstGeom>
          <a:solidFill>
            <a:srgbClr val="3F3F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4"/>
          <p:cNvSpPr/>
          <p:nvPr/>
        </p:nvSpPr>
        <p:spPr>
          <a:xfrm>
            <a:off x="914400" y="2377440"/>
            <a:ext cx="73152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¿Quién procesa 10,000 registros nuevos que llegan cada día?</a:t>
            </a:r>
            <a:endParaRPr b="0" i="0" sz="1400" u="none" cap="none" strike="noStrike">
              <a:solidFill>
                <a:schemeClr val="dk1"/>
              </a:solidFill>
              <a:latin typeface="Calibri"/>
              <a:ea typeface="Calibri"/>
              <a:cs typeface="Calibri"/>
              <a:sym typeface="Calibri"/>
            </a:endParaRPr>
          </a:p>
        </p:txBody>
      </p:sp>
      <p:sp>
        <p:nvSpPr>
          <p:cNvPr id="104" name="Google Shape;104;p4"/>
          <p:cNvSpPr/>
          <p:nvPr/>
        </p:nvSpPr>
        <p:spPr>
          <a:xfrm>
            <a:off x="731520" y="2926080"/>
            <a:ext cx="7680960" cy="457200"/>
          </a:xfrm>
          <a:prstGeom prst="rect">
            <a:avLst/>
          </a:prstGeom>
          <a:solidFill>
            <a:srgbClr val="3F3F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4"/>
          <p:cNvSpPr/>
          <p:nvPr/>
        </p:nvSpPr>
        <p:spPr>
          <a:xfrm>
            <a:off x="914400" y="2926080"/>
            <a:ext cx="73152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¿Quién detecta si los datos empezaron a llegar mal?</a:t>
            </a:r>
            <a:endParaRPr b="0" i="0" sz="1400" u="none" cap="none" strike="noStrike">
              <a:solidFill>
                <a:schemeClr val="dk1"/>
              </a:solidFill>
              <a:latin typeface="Calibri"/>
              <a:ea typeface="Calibri"/>
              <a:cs typeface="Calibri"/>
              <a:sym typeface="Calibri"/>
            </a:endParaRPr>
          </a:p>
        </p:txBody>
      </p:sp>
      <p:sp>
        <p:nvSpPr>
          <p:cNvPr id="106" name="Google Shape;106;p4"/>
          <p:cNvSpPr/>
          <p:nvPr/>
        </p:nvSpPr>
        <p:spPr>
          <a:xfrm>
            <a:off x="731520" y="3474720"/>
            <a:ext cx="7680960" cy="457200"/>
          </a:xfrm>
          <a:prstGeom prst="rect">
            <a:avLst/>
          </a:prstGeom>
          <a:solidFill>
            <a:srgbClr val="3F3F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4"/>
          <p:cNvSpPr/>
          <p:nvPr/>
        </p:nvSpPr>
        <p:spPr>
          <a:xfrm>
            <a:off x="914400" y="3474720"/>
            <a:ext cx="73152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¿Quién avisa si la calidad de datos se degradó?</a:t>
            </a:r>
            <a:endParaRPr b="0" i="0" sz="1400" u="none" cap="none" strike="noStrike">
              <a:solidFill>
                <a:schemeClr val="dk1"/>
              </a:solidFill>
              <a:latin typeface="Calibri"/>
              <a:ea typeface="Calibri"/>
              <a:cs typeface="Calibri"/>
              <a:sym typeface="Calibri"/>
            </a:endParaRPr>
          </a:p>
        </p:txBody>
      </p:sp>
      <p:sp>
        <p:nvSpPr>
          <p:cNvPr id="108" name="Google Shape;108;p4"/>
          <p:cNvSpPr/>
          <p:nvPr/>
        </p:nvSpPr>
        <p:spPr>
          <a:xfrm>
            <a:off x="731520" y="4023360"/>
            <a:ext cx="7680960" cy="457200"/>
          </a:xfrm>
          <a:prstGeom prst="rect">
            <a:avLst/>
          </a:prstGeom>
          <a:solidFill>
            <a:srgbClr val="3F3F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4"/>
          <p:cNvSpPr/>
          <p:nvPr/>
        </p:nvSpPr>
        <p:spPr>
          <a:xfrm>
            <a:off x="914400" y="4023360"/>
            <a:ext cx="73152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¿Quién guarda la trazabilidad de qué se procesó y cuándo?</a:t>
            </a:r>
            <a:endParaRPr b="0" i="0" sz="1400" u="none" cap="none" strike="noStrike">
              <a:solidFill>
                <a:schemeClr val="dk1"/>
              </a:solidFill>
              <a:latin typeface="Calibri"/>
              <a:ea typeface="Calibri"/>
              <a:cs typeface="Calibri"/>
              <a:sym typeface="Calibri"/>
            </a:endParaRPr>
          </a:p>
        </p:txBody>
      </p:sp>
      <p:sp>
        <p:nvSpPr>
          <p:cNvPr id="110" name="Google Shape;110;p4"/>
          <p:cNvSpPr/>
          <p:nvPr/>
        </p:nvSpPr>
        <p:spPr>
          <a:xfrm>
            <a:off x="457200" y="457200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E2EA61"/>
              </a:buClr>
              <a:buSzPts val="2200"/>
              <a:buFont typeface="Arial Black"/>
              <a:buNone/>
            </a:pPr>
            <a:r>
              <a:rPr b="0" i="0" lang="en-US" sz="2200" u="none" cap="none" strike="noStrike">
                <a:solidFill>
                  <a:srgbClr val="E2EA61"/>
                </a:solidFill>
                <a:latin typeface="Arial Black"/>
                <a:ea typeface="Arial Black"/>
                <a:cs typeface="Arial Black"/>
                <a:sym typeface="Arial Black"/>
              </a:rPr>
              <a:t>Necesitamos un ORQUESTADOR</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pic>
        <p:nvPicPr>
          <p:cNvPr descr="preencoded.png" id="116" name="Google Shape;116;p5"/>
          <p:cNvPicPr preferRelativeResize="0"/>
          <p:nvPr/>
        </p:nvPicPr>
        <p:blipFill rotWithShape="1">
          <a:blip r:embed="rId3">
            <a:alphaModFix/>
          </a:blip>
          <a:srcRect b="0" l="0" r="0" t="0"/>
          <a:stretch/>
        </p:blipFill>
        <p:spPr>
          <a:xfrm>
            <a:off x="274320" y="137160"/>
            <a:ext cx="1188720" cy="493776"/>
          </a:xfrm>
          <a:prstGeom prst="rect">
            <a:avLst/>
          </a:prstGeom>
          <a:noFill/>
          <a:ln>
            <a:noFill/>
          </a:ln>
        </p:spPr>
      </p:pic>
      <p:sp>
        <p:nvSpPr>
          <p:cNvPr id="117" name="Google Shape;117;p5"/>
          <p:cNvSpPr/>
          <p:nvPr/>
        </p:nvSpPr>
        <p:spPr>
          <a:xfrm>
            <a:off x="5029200" y="137160"/>
            <a:ext cx="4114800" cy="457200"/>
          </a:xfrm>
          <a:prstGeom prst="rect">
            <a:avLst/>
          </a:prstGeom>
          <a:solidFill>
            <a:srgbClr val="378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5"/>
          <p:cNvSpPr/>
          <p:nvPr/>
        </p:nvSpPr>
        <p:spPr>
          <a:xfrm>
            <a:off x="274320" y="777240"/>
            <a:ext cx="859536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2600"/>
              <a:buFont typeface="Arial Black"/>
              <a:buNone/>
            </a:pPr>
            <a:r>
              <a:rPr b="0" i="0" lang="en-US" sz="2600" u="none" cap="none" strike="noStrike">
                <a:solidFill>
                  <a:srgbClr val="2C3E50"/>
                </a:solidFill>
                <a:latin typeface="Arial Black"/>
                <a:ea typeface="Arial Black"/>
                <a:cs typeface="Arial Black"/>
                <a:sym typeface="Arial Black"/>
              </a:rPr>
              <a:t>Ecosistema de Microservicios en la Nube</a:t>
            </a:r>
            <a:endParaRPr b="0" i="0" sz="2600" u="none" cap="none" strike="noStrike">
              <a:solidFill>
                <a:schemeClr val="dk1"/>
              </a:solidFill>
              <a:latin typeface="Calibri"/>
              <a:ea typeface="Calibri"/>
              <a:cs typeface="Calibri"/>
              <a:sym typeface="Calibri"/>
            </a:endParaRPr>
          </a:p>
        </p:txBody>
      </p:sp>
      <p:sp>
        <p:nvSpPr>
          <p:cNvPr id="119" name="Google Shape;119;p5"/>
          <p:cNvSpPr/>
          <p:nvPr/>
        </p:nvSpPr>
        <p:spPr>
          <a:xfrm>
            <a:off x="274320" y="1508760"/>
            <a:ext cx="27432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54E9"/>
              </a:buClr>
              <a:buSzPts val="1300"/>
              <a:buFont typeface="Arial Black"/>
              <a:buNone/>
            </a:pPr>
            <a:r>
              <a:rPr lang="en-US" sz="1300">
                <a:solidFill>
                  <a:srgbClr val="5454E9"/>
                </a:solidFill>
                <a:latin typeface="Arial Black"/>
                <a:ea typeface="Arial Black"/>
                <a:cs typeface="Arial Black"/>
                <a:sym typeface="Arial Black"/>
              </a:rPr>
              <a:t>En </a:t>
            </a:r>
            <a:r>
              <a:rPr b="0" i="0" lang="en-US" sz="1300" u="none" cap="none" strike="noStrike">
                <a:solidFill>
                  <a:srgbClr val="5454E9"/>
                </a:solidFill>
                <a:latin typeface="Arial Black"/>
                <a:ea typeface="Arial Black"/>
                <a:cs typeface="Arial Black"/>
                <a:sym typeface="Arial Black"/>
              </a:rPr>
              <a:t>Agent Platform</a:t>
            </a:r>
            <a:endParaRPr b="0" i="0" sz="1300" u="none" cap="none" strike="noStrike">
              <a:solidFill>
                <a:schemeClr val="dk1"/>
              </a:solidFill>
              <a:latin typeface="Calibri"/>
              <a:ea typeface="Calibri"/>
              <a:cs typeface="Calibri"/>
              <a:sym typeface="Calibri"/>
            </a:endParaRPr>
          </a:p>
        </p:txBody>
      </p:sp>
      <p:sp>
        <p:nvSpPr>
          <p:cNvPr id="120" name="Google Shape;120;p5"/>
          <p:cNvSpPr/>
          <p:nvPr/>
        </p:nvSpPr>
        <p:spPr>
          <a:xfrm>
            <a:off x="457200" y="1874520"/>
            <a:ext cx="4114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Model Registry — almacén de modelos versionados</a:t>
            </a:r>
            <a:endParaRPr b="0" i="0" sz="900" u="none" cap="none" strike="noStrike">
              <a:solidFill>
                <a:schemeClr val="dk1"/>
              </a:solidFill>
              <a:latin typeface="Calibri"/>
              <a:ea typeface="Calibri"/>
              <a:cs typeface="Calibri"/>
              <a:sym typeface="Calibri"/>
            </a:endParaRPr>
          </a:p>
        </p:txBody>
      </p:sp>
      <p:sp>
        <p:nvSpPr>
          <p:cNvPr id="121" name="Google Shape;121;p5"/>
          <p:cNvSpPr/>
          <p:nvPr/>
        </p:nvSpPr>
        <p:spPr>
          <a:xfrm>
            <a:off x="457200" y="2130552"/>
            <a:ext cx="4114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Endpoints — serving de predicciones online</a:t>
            </a:r>
            <a:endParaRPr b="0" i="0" sz="900" u="none" cap="none" strike="noStrike">
              <a:solidFill>
                <a:schemeClr val="dk1"/>
              </a:solidFill>
              <a:latin typeface="Calibri"/>
              <a:ea typeface="Calibri"/>
              <a:cs typeface="Calibri"/>
              <a:sym typeface="Calibri"/>
            </a:endParaRPr>
          </a:p>
        </p:txBody>
      </p:sp>
      <p:sp>
        <p:nvSpPr>
          <p:cNvPr id="122" name="Google Shape;122;p5"/>
          <p:cNvSpPr/>
          <p:nvPr/>
        </p:nvSpPr>
        <p:spPr>
          <a:xfrm>
            <a:off x="457200" y="2386584"/>
            <a:ext cx="4114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Batch Prediction — predicciones masivas</a:t>
            </a:r>
            <a:endParaRPr b="0" i="0" sz="900" u="none" cap="none" strike="noStrike">
              <a:solidFill>
                <a:schemeClr val="dk1"/>
              </a:solidFill>
              <a:latin typeface="Calibri"/>
              <a:ea typeface="Calibri"/>
              <a:cs typeface="Calibri"/>
              <a:sym typeface="Calibri"/>
            </a:endParaRPr>
          </a:p>
        </p:txBody>
      </p:sp>
      <p:sp>
        <p:nvSpPr>
          <p:cNvPr id="123" name="Google Shape;123;p5"/>
          <p:cNvSpPr/>
          <p:nvPr/>
        </p:nvSpPr>
        <p:spPr>
          <a:xfrm>
            <a:off x="457200" y="2642616"/>
            <a:ext cx="4114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Feature Store — almacén de features reutilizables*</a:t>
            </a:r>
            <a:endParaRPr b="0" i="0" sz="900" u="none" cap="none" strike="noStrike">
              <a:solidFill>
                <a:schemeClr val="dk1"/>
              </a:solidFill>
              <a:latin typeface="Calibri"/>
              <a:ea typeface="Calibri"/>
              <a:cs typeface="Calibri"/>
              <a:sym typeface="Calibri"/>
            </a:endParaRPr>
          </a:p>
        </p:txBody>
      </p:sp>
      <p:sp>
        <p:nvSpPr>
          <p:cNvPr id="124" name="Google Shape;124;p5"/>
          <p:cNvSpPr/>
          <p:nvPr/>
        </p:nvSpPr>
        <p:spPr>
          <a:xfrm>
            <a:off x="457200" y="2898648"/>
            <a:ext cx="4114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Pipelines — orquestación de ML workflows</a:t>
            </a:r>
            <a:endParaRPr b="0" i="0" sz="900" u="none" cap="none" strike="noStrike">
              <a:solidFill>
                <a:schemeClr val="dk1"/>
              </a:solidFill>
              <a:latin typeface="Calibri"/>
              <a:ea typeface="Calibri"/>
              <a:cs typeface="Calibri"/>
              <a:sym typeface="Calibri"/>
            </a:endParaRPr>
          </a:p>
        </p:txBody>
      </p:sp>
      <p:sp>
        <p:nvSpPr>
          <p:cNvPr id="125" name="Google Shape;125;p5"/>
          <p:cNvSpPr/>
          <p:nvPr/>
        </p:nvSpPr>
        <p:spPr>
          <a:xfrm>
            <a:off x="457200" y="3154680"/>
            <a:ext cx="4114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Model Monitoring — detección automática de drift</a:t>
            </a:r>
            <a:endParaRPr b="0" i="0" sz="900" u="none" cap="none" strike="noStrike">
              <a:solidFill>
                <a:schemeClr val="dk1"/>
              </a:solidFill>
              <a:latin typeface="Calibri"/>
              <a:ea typeface="Calibri"/>
              <a:cs typeface="Calibri"/>
              <a:sym typeface="Calibri"/>
            </a:endParaRPr>
          </a:p>
        </p:txBody>
      </p:sp>
      <p:sp>
        <p:nvSpPr>
          <p:cNvPr id="126" name="Google Shape;126;p5"/>
          <p:cNvSpPr/>
          <p:nvPr/>
        </p:nvSpPr>
        <p:spPr>
          <a:xfrm>
            <a:off x="4572000" y="1508760"/>
            <a:ext cx="438912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Arial Black"/>
              <a:buNone/>
            </a:pPr>
            <a:r>
              <a:rPr b="0" i="0" lang="en-US" sz="1300" u="none" cap="none" strike="noStrike">
                <a:solidFill>
                  <a:srgbClr val="2C3E50"/>
                </a:solidFill>
                <a:latin typeface="Arial Black"/>
                <a:ea typeface="Arial Black"/>
                <a:cs typeface="Arial Black"/>
                <a:sym typeface="Arial Black"/>
              </a:rPr>
              <a:t>Comparativo Multi-Nube (2026)</a:t>
            </a:r>
            <a:endParaRPr b="0" i="0" sz="1300" u="none" cap="none" strike="noStrike">
              <a:solidFill>
                <a:schemeClr val="dk1"/>
              </a:solidFill>
              <a:latin typeface="Calibri"/>
              <a:ea typeface="Calibri"/>
              <a:cs typeface="Calibri"/>
              <a:sym typeface="Calibri"/>
            </a:endParaRPr>
          </a:p>
        </p:txBody>
      </p:sp>
      <p:graphicFrame>
        <p:nvGraphicFramePr>
          <p:cNvPr id="127" name="Google Shape;127;p5"/>
          <p:cNvGraphicFramePr/>
          <p:nvPr/>
        </p:nvGraphicFramePr>
        <p:xfrm>
          <a:off x="4572000" y="1874520"/>
          <a:ext cx="3000000" cy="3000000"/>
        </p:xfrm>
        <a:graphic>
          <a:graphicData uri="http://schemas.openxmlformats.org/drawingml/2006/table">
            <a:tbl>
              <a:tblPr>
                <a:noFill/>
                <a:tableStyleId>{A2BEF54B-14FB-440B-B6E1-25F5FA6AA642}</a:tableStyleId>
              </a:tblPr>
              <a:tblGrid>
                <a:gridCol w="1005850"/>
                <a:gridCol w="1124700"/>
                <a:gridCol w="1124700"/>
                <a:gridCol w="1124700"/>
              </a:tblGrid>
              <a:tr h="274325">
                <a:tc>
                  <a:txBody>
                    <a:bodyPr/>
                    <a:lstStyle/>
                    <a:p>
                      <a:pPr indent="0" lvl="0" marL="0" marR="0" rtl="0" algn="l">
                        <a:lnSpc>
                          <a:spcPct val="100000"/>
                        </a:lnSpc>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Servicio</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5454E9"/>
                    </a:solidFill>
                  </a:tcPr>
                </a:tc>
                <a:tc>
                  <a:txBody>
                    <a:bodyPr/>
                    <a:lstStyle/>
                    <a:p>
                      <a:pPr indent="0" lvl="0" marL="0" marR="0" rtl="0" algn="l">
                        <a:lnSpc>
                          <a:spcPct val="100000"/>
                        </a:lnSpc>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GCP</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5454E9"/>
                    </a:solidFill>
                  </a:tcPr>
                </a:tc>
                <a:tc>
                  <a:txBody>
                    <a:bodyPr/>
                    <a:lstStyle/>
                    <a:p>
                      <a:pPr indent="0" lvl="0" marL="0" marR="0" rtl="0" algn="l">
                        <a:lnSpc>
                          <a:spcPct val="100000"/>
                        </a:lnSpc>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AWS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5454E9"/>
                    </a:solidFill>
                  </a:tcPr>
                </a:tc>
                <a:tc>
                  <a:txBody>
                    <a:bodyPr/>
                    <a:lstStyle/>
                    <a:p>
                      <a:pPr indent="0" lvl="0" marL="0" marR="0" rtl="0" algn="l">
                        <a:lnSpc>
                          <a:spcPct val="100000"/>
                        </a:lnSpc>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Azure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5454E9"/>
                    </a:solidFill>
                  </a:tcPr>
                </a:tc>
              </a:tr>
              <a:tr h="347475">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Orquestador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Cloud Composer</a:t>
                      </a:r>
                      <a:endParaRPr sz="8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$350/mes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MWAA</a:t>
                      </a:r>
                      <a:endParaRPr sz="8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$300/mes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Data Factory</a:t>
                      </a:r>
                      <a:endParaRPr sz="8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pago/actividad</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274325">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ML Platform</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800"/>
                        <a:buFont typeface="Calibri"/>
                        <a:buNone/>
                      </a:pPr>
                      <a:r>
                        <a:rPr lang="en-US" sz="800">
                          <a:solidFill>
                            <a:srgbClr val="2C3E50"/>
                          </a:solidFill>
                          <a:latin typeface="Calibri"/>
                          <a:ea typeface="Calibri"/>
                          <a:cs typeface="Calibri"/>
                          <a:sym typeface="Calibri"/>
                        </a:rPr>
                        <a:t>Agent platform</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SageMaker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Azure ML</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347475">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Storage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GCS</a:t>
                      </a:r>
                      <a:endParaRPr sz="8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$0.02/GB</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S3</a:t>
                      </a:r>
                      <a:endParaRPr sz="8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$0.023/GB</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Blob Storage</a:t>
                      </a:r>
                      <a:endParaRPr sz="8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$0.018/GB</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347475">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Data Warehouse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BigQuery</a:t>
                      </a:r>
                      <a:endParaRPr sz="8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$6.25/TB query</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Redshift</a:t>
                      </a:r>
                      <a:endParaRPr sz="8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$0.25/hr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Synapse</a:t>
                      </a:r>
                      <a:endParaRPr sz="8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$1.20/TB</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347475">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API Serverless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Cloud Run</a:t>
                      </a:r>
                      <a:endParaRPr sz="8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$0/idle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Lambda</a:t>
                      </a:r>
                      <a:endParaRPr sz="8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$0/idle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Container Apps</a:t>
                      </a:r>
                      <a:endParaRPr sz="8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2C3E50"/>
                        </a:buClr>
                        <a:buSzPts val="800"/>
                        <a:buFont typeface="Calibri"/>
                        <a:buNone/>
                      </a:pPr>
                      <a:r>
                        <a:rPr lang="en-US" sz="800" u="none" cap="none" strike="noStrike">
                          <a:solidFill>
                            <a:srgbClr val="2C3E50"/>
                          </a:solidFill>
                          <a:latin typeface="Calibri"/>
                          <a:ea typeface="Calibri"/>
                          <a:cs typeface="Calibri"/>
                          <a:sym typeface="Calibri"/>
                        </a:rPr>
                        <a:t>$0/idle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bl>
          </a:graphicData>
        </a:graphic>
      </p:graphicFrame>
      <p:sp>
        <p:nvSpPr>
          <p:cNvPr id="128" name="Google Shape;128;p5"/>
          <p:cNvSpPr/>
          <p:nvPr/>
        </p:nvSpPr>
        <p:spPr>
          <a:xfrm>
            <a:off x="274320" y="3520440"/>
            <a:ext cx="4114800" cy="1097280"/>
          </a:xfrm>
          <a:prstGeom prst="rect">
            <a:avLst/>
          </a:prstGeom>
          <a:solidFill>
            <a:srgbClr val="F5F5F5"/>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5"/>
          <p:cNvSpPr/>
          <p:nvPr/>
        </p:nvSpPr>
        <p:spPr>
          <a:xfrm>
            <a:off x="274320" y="3520440"/>
            <a:ext cx="4114800" cy="2743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54E9"/>
              </a:buClr>
              <a:buSzPts val="1100"/>
              <a:buFont typeface="Arial Black"/>
              <a:buNone/>
            </a:pPr>
            <a:r>
              <a:rPr b="0" i="0" lang="en-US" sz="1100" u="none" cap="none" strike="noStrike">
                <a:solidFill>
                  <a:srgbClr val="5454E9"/>
                </a:solidFill>
                <a:latin typeface="Arial Black"/>
                <a:ea typeface="Arial Black"/>
                <a:cs typeface="Arial Black"/>
                <a:sym typeface="Arial Black"/>
              </a:rPr>
              <a:t>Latencias típicas de predicción</a:t>
            </a:r>
            <a:endParaRPr b="0" i="0" sz="1100" u="none" cap="none" strike="noStrike">
              <a:solidFill>
                <a:schemeClr val="dk1"/>
              </a:solidFill>
              <a:latin typeface="Calibri"/>
              <a:ea typeface="Calibri"/>
              <a:cs typeface="Calibri"/>
              <a:sym typeface="Calibri"/>
            </a:endParaRPr>
          </a:p>
        </p:txBody>
      </p:sp>
      <p:sp>
        <p:nvSpPr>
          <p:cNvPr id="130" name="Google Shape;130;p5"/>
          <p:cNvSpPr/>
          <p:nvPr/>
        </p:nvSpPr>
        <p:spPr>
          <a:xfrm>
            <a:off x="457200" y="3840480"/>
            <a:ext cx="374904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Online (API): </a:t>
            </a:r>
            <a:r>
              <a:rPr b="0" i="0" lang="en-US" sz="1000" u="none" cap="none" strike="noStrike">
                <a:solidFill>
                  <a:srgbClr val="2C3E50"/>
                </a:solidFill>
                <a:latin typeface="Calibri"/>
                <a:ea typeface="Calibri"/>
                <a:cs typeface="Calibri"/>
                <a:sym typeface="Calibri"/>
              </a:rPr>
              <a:t>100-500ms por registro</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Batch (Airflow): </a:t>
            </a:r>
            <a:r>
              <a:rPr b="0" i="0" lang="en-US" sz="1000" u="none" cap="none" strike="noStrike">
                <a:solidFill>
                  <a:srgbClr val="2C3E50"/>
                </a:solidFill>
                <a:latin typeface="Calibri"/>
                <a:ea typeface="Calibri"/>
                <a:cs typeface="Calibri"/>
                <a:sym typeface="Calibri"/>
              </a:rPr>
              <a:t>1-10min por archivo de 1000 registros</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Streaming (Pub/Sub): </a:t>
            </a:r>
            <a:r>
              <a:rPr b="0" i="0" lang="en-US" sz="1000" u="none" cap="none" strike="noStrike">
                <a:solidFill>
                  <a:srgbClr val="2C3E50"/>
                </a:solidFill>
                <a:latin typeface="Calibri"/>
                <a:ea typeface="Calibri"/>
                <a:cs typeface="Calibri"/>
                <a:sym typeface="Calibri"/>
              </a:rPr>
              <a:t>50-200ms con procesamiento continuo</a:t>
            </a:r>
            <a:endParaRPr b="0" i="0" sz="1000" u="none" cap="none" strike="noStrike">
              <a:solidFill>
                <a:schemeClr val="dk1"/>
              </a:solidFill>
              <a:latin typeface="Calibri"/>
              <a:ea typeface="Calibri"/>
              <a:cs typeface="Calibri"/>
              <a:sym typeface="Calibri"/>
            </a:endParaRPr>
          </a:p>
        </p:txBody>
      </p:sp>
      <p:sp>
        <p:nvSpPr>
          <p:cNvPr id="131" name="Google Shape;131;p5"/>
          <p:cNvSpPr/>
          <p:nvPr/>
        </p:nvSpPr>
        <p:spPr>
          <a:xfrm>
            <a:off x="274320" y="4709160"/>
            <a:ext cx="859536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54E9"/>
              </a:buClr>
              <a:buSzPts val="1000"/>
              <a:buFont typeface="Calibri"/>
              <a:buNone/>
            </a:pPr>
            <a:r>
              <a:rPr b="0" i="1" lang="en-US" sz="1000" u="none" cap="none" strike="noStrike">
                <a:solidFill>
                  <a:srgbClr val="5454E9"/>
                </a:solidFill>
                <a:latin typeface="Calibri"/>
                <a:ea typeface="Calibri"/>
                <a:cs typeface="Calibri"/>
                <a:sym typeface="Calibri"/>
              </a:rPr>
              <a:t>¿Por qué Airflow? Es open-source, multi-nube, pipelines como código (Python), y el más adoptado en la industria para orquestación batch.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pic>
        <p:nvPicPr>
          <p:cNvPr descr="preencoded.png" id="137" name="Google Shape;137;p6"/>
          <p:cNvPicPr preferRelativeResize="0"/>
          <p:nvPr/>
        </p:nvPicPr>
        <p:blipFill rotWithShape="1">
          <a:blip r:embed="rId3">
            <a:alphaModFix/>
          </a:blip>
          <a:srcRect b="0" l="0" r="0" t="0"/>
          <a:stretch/>
        </p:blipFill>
        <p:spPr>
          <a:xfrm>
            <a:off x="274320" y="137160"/>
            <a:ext cx="1188720" cy="493776"/>
          </a:xfrm>
          <a:prstGeom prst="rect">
            <a:avLst/>
          </a:prstGeom>
          <a:noFill/>
          <a:ln>
            <a:noFill/>
          </a:ln>
        </p:spPr>
      </p:pic>
      <p:sp>
        <p:nvSpPr>
          <p:cNvPr id="138" name="Google Shape;138;p6"/>
          <p:cNvSpPr/>
          <p:nvPr/>
        </p:nvSpPr>
        <p:spPr>
          <a:xfrm>
            <a:off x="5029200" y="137160"/>
            <a:ext cx="4114800" cy="457200"/>
          </a:xfrm>
          <a:prstGeom prst="rect">
            <a:avLst/>
          </a:prstGeom>
          <a:solidFill>
            <a:srgbClr val="378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6"/>
          <p:cNvSpPr/>
          <p:nvPr/>
        </p:nvSpPr>
        <p:spPr>
          <a:xfrm>
            <a:off x="274320" y="777240"/>
            <a:ext cx="859536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2600"/>
              <a:buFont typeface="Arial Black"/>
              <a:buNone/>
            </a:pPr>
            <a:r>
              <a:rPr b="0" i="0" lang="en-US" sz="2600" u="none" cap="none" strike="noStrike">
                <a:solidFill>
                  <a:srgbClr val="2C3E50"/>
                </a:solidFill>
                <a:latin typeface="Arial Black"/>
                <a:ea typeface="Arial Black"/>
                <a:cs typeface="Arial Black"/>
                <a:sym typeface="Arial Black"/>
              </a:rPr>
              <a:t>Ingeniería de Datos: ETL vs ELT</a:t>
            </a:r>
            <a:endParaRPr b="0" i="0" sz="2600" u="none" cap="none" strike="noStrike">
              <a:solidFill>
                <a:schemeClr val="dk1"/>
              </a:solidFill>
              <a:latin typeface="Calibri"/>
              <a:ea typeface="Calibri"/>
              <a:cs typeface="Calibri"/>
              <a:sym typeface="Calibri"/>
            </a:endParaRPr>
          </a:p>
        </p:txBody>
      </p:sp>
      <p:sp>
        <p:nvSpPr>
          <p:cNvPr id="140" name="Google Shape;140;p6"/>
          <p:cNvSpPr/>
          <p:nvPr/>
        </p:nvSpPr>
        <p:spPr>
          <a:xfrm>
            <a:off x="274320" y="1554480"/>
            <a:ext cx="4114800" cy="256032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6"/>
          <p:cNvSpPr/>
          <p:nvPr/>
        </p:nvSpPr>
        <p:spPr>
          <a:xfrm>
            <a:off x="274320" y="1554480"/>
            <a:ext cx="73152" cy="2560320"/>
          </a:xfrm>
          <a:prstGeom prst="rect">
            <a:avLst/>
          </a:prstGeom>
          <a:solidFill>
            <a:srgbClr val="7E57C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6"/>
          <p:cNvSpPr/>
          <p:nvPr/>
        </p:nvSpPr>
        <p:spPr>
          <a:xfrm>
            <a:off x="548640" y="1600200"/>
            <a:ext cx="13716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E57C2"/>
              </a:buClr>
              <a:buSzPts val="2800"/>
              <a:buFont typeface="Arial Black"/>
              <a:buNone/>
            </a:pPr>
            <a:r>
              <a:rPr b="0" i="0" lang="en-US" sz="2800" u="none" cap="none" strike="noStrike">
                <a:solidFill>
                  <a:srgbClr val="7E57C2"/>
                </a:solidFill>
                <a:latin typeface="Arial Black"/>
                <a:ea typeface="Arial Black"/>
                <a:cs typeface="Arial Black"/>
                <a:sym typeface="Arial Black"/>
              </a:rPr>
              <a:t>ETL</a:t>
            </a:r>
            <a:endParaRPr b="0" i="0" sz="2800" u="none" cap="none" strike="noStrike">
              <a:solidFill>
                <a:schemeClr val="dk1"/>
              </a:solidFill>
              <a:latin typeface="Calibri"/>
              <a:ea typeface="Calibri"/>
              <a:cs typeface="Calibri"/>
              <a:sym typeface="Calibri"/>
            </a:endParaRPr>
          </a:p>
        </p:txBody>
      </p:sp>
      <p:sp>
        <p:nvSpPr>
          <p:cNvPr id="143" name="Google Shape;143;p6"/>
          <p:cNvSpPr/>
          <p:nvPr/>
        </p:nvSpPr>
        <p:spPr>
          <a:xfrm>
            <a:off x="1828800" y="1645920"/>
            <a:ext cx="256032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1100"/>
              <a:buFont typeface="Calibri"/>
              <a:buNone/>
            </a:pPr>
            <a:r>
              <a:rPr b="0" i="1" lang="en-US" sz="1100" u="none" cap="none" strike="noStrike">
                <a:solidFill>
                  <a:srgbClr val="999999"/>
                </a:solidFill>
                <a:latin typeface="Calibri"/>
                <a:ea typeface="Calibri"/>
                <a:cs typeface="Calibri"/>
                <a:sym typeface="Calibri"/>
              </a:rPr>
              <a:t>Extract → Transform → Load</a:t>
            </a:r>
            <a:endParaRPr b="0" i="0" sz="1100" u="none" cap="none" strike="noStrike">
              <a:solidFill>
                <a:schemeClr val="dk1"/>
              </a:solidFill>
              <a:latin typeface="Calibri"/>
              <a:ea typeface="Calibri"/>
              <a:cs typeface="Calibri"/>
              <a:sym typeface="Calibri"/>
            </a:endParaRPr>
          </a:p>
        </p:txBody>
      </p:sp>
      <p:sp>
        <p:nvSpPr>
          <p:cNvPr id="144" name="Google Shape;144;p6"/>
          <p:cNvSpPr/>
          <p:nvPr/>
        </p:nvSpPr>
        <p:spPr>
          <a:xfrm>
            <a:off x="548640" y="2194560"/>
            <a:ext cx="3657600" cy="1737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200"/>
              <a:buFont typeface="Calibri"/>
              <a:buNone/>
            </a:pPr>
            <a:r>
              <a:rPr b="1" i="0" lang="en-US" sz="1200" u="none" cap="none" strike="noStrike">
                <a:solidFill>
                  <a:srgbClr val="2C3E50"/>
                </a:solidFill>
                <a:latin typeface="Calibri"/>
                <a:ea typeface="Calibri"/>
                <a:cs typeface="Calibri"/>
                <a:sym typeface="Calibri"/>
              </a:rPr>
              <a:t>Transformas ANTES de cargar al destino</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Solo datos limpios llegan al warehouse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Menor almacenamiento en destino</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Procesamiento intermedio (Airflow, Dataflow, Glue)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7E57C2"/>
              </a:buClr>
              <a:buSzPts val="1100"/>
              <a:buFont typeface="Calibri"/>
              <a:buNone/>
            </a:pPr>
            <a:r>
              <a:rPr b="1" i="0" lang="en-US" sz="1100" u="none" cap="none" strike="noStrike">
                <a:solidFill>
                  <a:srgbClr val="7E57C2"/>
                </a:solidFill>
                <a:latin typeface="Calibri"/>
                <a:ea typeface="Calibri"/>
                <a:cs typeface="Calibri"/>
                <a:sym typeface="Calibri"/>
              </a:rPr>
              <a:t>Nuestro lab usa este patrón</a:t>
            </a:r>
            <a:endParaRPr b="0" i="0" sz="1200" u="none" cap="none" strike="noStrike">
              <a:solidFill>
                <a:schemeClr val="dk1"/>
              </a:solidFill>
              <a:latin typeface="Calibri"/>
              <a:ea typeface="Calibri"/>
              <a:cs typeface="Calibri"/>
              <a:sym typeface="Calibri"/>
            </a:endParaRPr>
          </a:p>
        </p:txBody>
      </p:sp>
      <p:sp>
        <p:nvSpPr>
          <p:cNvPr id="145" name="Google Shape;145;p6"/>
          <p:cNvSpPr/>
          <p:nvPr/>
        </p:nvSpPr>
        <p:spPr>
          <a:xfrm>
            <a:off x="4754880" y="1554480"/>
            <a:ext cx="4114800" cy="256032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6"/>
          <p:cNvSpPr/>
          <p:nvPr/>
        </p:nvSpPr>
        <p:spPr>
          <a:xfrm>
            <a:off x="4754880" y="1554480"/>
            <a:ext cx="73152" cy="2560320"/>
          </a:xfrm>
          <a:prstGeom prst="rect">
            <a:avLst/>
          </a:prstGeom>
          <a:solidFill>
            <a:srgbClr val="1565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6"/>
          <p:cNvSpPr/>
          <p:nvPr/>
        </p:nvSpPr>
        <p:spPr>
          <a:xfrm>
            <a:off x="5029200" y="1600200"/>
            <a:ext cx="13716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565C0"/>
              </a:buClr>
              <a:buSzPts val="2800"/>
              <a:buFont typeface="Arial Black"/>
              <a:buNone/>
            </a:pPr>
            <a:r>
              <a:rPr b="0" i="0" lang="en-US" sz="2800" u="none" cap="none" strike="noStrike">
                <a:solidFill>
                  <a:srgbClr val="1565C0"/>
                </a:solidFill>
                <a:latin typeface="Arial Black"/>
                <a:ea typeface="Arial Black"/>
                <a:cs typeface="Arial Black"/>
                <a:sym typeface="Arial Black"/>
              </a:rPr>
              <a:t>ELT</a:t>
            </a:r>
            <a:endParaRPr b="0" i="0" sz="2800" u="none" cap="none" strike="noStrike">
              <a:solidFill>
                <a:schemeClr val="dk1"/>
              </a:solidFill>
              <a:latin typeface="Calibri"/>
              <a:ea typeface="Calibri"/>
              <a:cs typeface="Calibri"/>
              <a:sym typeface="Calibri"/>
            </a:endParaRPr>
          </a:p>
        </p:txBody>
      </p:sp>
      <p:sp>
        <p:nvSpPr>
          <p:cNvPr id="148" name="Google Shape;148;p6"/>
          <p:cNvSpPr/>
          <p:nvPr/>
        </p:nvSpPr>
        <p:spPr>
          <a:xfrm>
            <a:off x="6309360" y="1645920"/>
            <a:ext cx="256032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1100"/>
              <a:buFont typeface="Calibri"/>
              <a:buNone/>
            </a:pPr>
            <a:r>
              <a:rPr b="0" i="1" lang="en-US" sz="1100" u="none" cap="none" strike="noStrike">
                <a:solidFill>
                  <a:srgbClr val="999999"/>
                </a:solidFill>
                <a:latin typeface="Calibri"/>
                <a:ea typeface="Calibri"/>
                <a:cs typeface="Calibri"/>
                <a:sym typeface="Calibri"/>
              </a:rPr>
              <a:t>Extract → Load → Transform</a:t>
            </a:r>
            <a:endParaRPr b="0" i="0" sz="1100" u="none" cap="none" strike="noStrike">
              <a:solidFill>
                <a:schemeClr val="dk1"/>
              </a:solidFill>
              <a:latin typeface="Calibri"/>
              <a:ea typeface="Calibri"/>
              <a:cs typeface="Calibri"/>
              <a:sym typeface="Calibri"/>
            </a:endParaRPr>
          </a:p>
        </p:txBody>
      </p:sp>
      <p:sp>
        <p:nvSpPr>
          <p:cNvPr id="149" name="Google Shape;149;p6"/>
          <p:cNvSpPr/>
          <p:nvPr/>
        </p:nvSpPr>
        <p:spPr>
          <a:xfrm>
            <a:off x="5029200" y="2194560"/>
            <a:ext cx="3657600" cy="1737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200"/>
              <a:buFont typeface="Calibri"/>
              <a:buNone/>
            </a:pPr>
            <a:r>
              <a:rPr b="1" i="0" lang="en-US" sz="1200" u="none" cap="none" strike="noStrike">
                <a:solidFill>
                  <a:srgbClr val="2C3E50"/>
                </a:solidFill>
                <a:latin typeface="Calibri"/>
                <a:ea typeface="Calibri"/>
                <a:cs typeface="Calibri"/>
                <a:sym typeface="Calibri"/>
              </a:rPr>
              <a:t>Cargas TODO crudo, transformas después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El warehouse hace la transformación (SQL)</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Más flexible para análisis exploratorio</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Requiere DW potente (BigQuery, Snowflake, Redshift)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565C0"/>
              </a:buClr>
              <a:buSzPts val="1100"/>
              <a:buFont typeface="Calibri"/>
              <a:buNone/>
            </a:pPr>
            <a:r>
              <a:rPr b="1" i="0" lang="en-US" sz="1100" u="none" cap="none" strike="noStrike">
                <a:solidFill>
                  <a:srgbClr val="1565C0"/>
                </a:solidFill>
                <a:latin typeface="Calibri"/>
                <a:ea typeface="Calibri"/>
                <a:cs typeface="Calibri"/>
                <a:sym typeface="Calibri"/>
              </a:rPr>
              <a:t>Patrón dominante en data analytics moderno</a:t>
            </a:r>
            <a:endParaRPr b="0" i="0" sz="1200" u="none" cap="none" strike="noStrike">
              <a:solidFill>
                <a:schemeClr val="dk1"/>
              </a:solidFill>
              <a:latin typeface="Calibri"/>
              <a:ea typeface="Calibri"/>
              <a:cs typeface="Calibri"/>
              <a:sym typeface="Calibri"/>
            </a:endParaRPr>
          </a:p>
        </p:txBody>
      </p:sp>
      <p:sp>
        <p:nvSpPr>
          <p:cNvPr id="150" name="Google Shape;150;p6"/>
          <p:cNvSpPr/>
          <p:nvPr/>
        </p:nvSpPr>
        <p:spPr>
          <a:xfrm>
            <a:off x="274320" y="4297680"/>
            <a:ext cx="8595360" cy="64008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6"/>
          <p:cNvSpPr/>
          <p:nvPr/>
        </p:nvSpPr>
        <p:spPr>
          <a:xfrm>
            <a:off x="274320" y="429768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Nuestro pipeline:  GCS (Extract)  ➤  FastAPI valida y predice (Transform)  ➤  BigQuery (Load)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descr="preencoded.png" id="157" name="Google Shape;157;g3f8e260bd44_0_4"/>
          <p:cNvPicPr preferRelativeResize="0"/>
          <p:nvPr/>
        </p:nvPicPr>
        <p:blipFill rotWithShape="1">
          <a:blip r:embed="rId3">
            <a:alphaModFix/>
          </a:blip>
          <a:srcRect b="0" l="0" r="0" t="0"/>
          <a:stretch/>
        </p:blipFill>
        <p:spPr>
          <a:xfrm>
            <a:off x="274320" y="137160"/>
            <a:ext cx="1188721" cy="493776"/>
          </a:xfrm>
          <a:prstGeom prst="rect">
            <a:avLst/>
          </a:prstGeom>
          <a:noFill/>
          <a:ln>
            <a:noFill/>
          </a:ln>
        </p:spPr>
      </p:pic>
      <p:sp>
        <p:nvSpPr>
          <p:cNvPr id="158" name="Google Shape;158;g3f8e260bd44_0_4"/>
          <p:cNvSpPr/>
          <p:nvPr/>
        </p:nvSpPr>
        <p:spPr>
          <a:xfrm>
            <a:off x="5029200" y="137160"/>
            <a:ext cx="4114800" cy="457200"/>
          </a:xfrm>
          <a:prstGeom prst="rect">
            <a:avLst/>
          </a:prstGeom>
          <a:solidFill>
            <a:srgbClr val="3787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3f8e260bd44_0_4"/>
          <p:cNvSpPr txBox="1"/>
          <p:nvPr/>
        </p:nvSpPr>
        <p:spPr>
          <a:xfrm>
            <a:off x="274320" y="685800"/>
            <a:ext cx="8595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400"/>
              <a:buFont typeface="Calibri"/>
              <a:buNone/>
            </a:pPr>
            <a:r>
              <a:rPr b="0" i="0" lang="en-US" sz="2400" u="none" cap="none" strike="noStrike">
                <a:solidFill>
                  <a:srgbClr val="2C3E50"/>
                </a:solidFill>
                <a:latin typeface="Calibri"/>
                <a:ea typeface="Calibri"/>
                <a:cs typeface="Calibri"/>
                <a:sym typeface="Calibri"/>
              </a:rPr>
              <a:t>Una sola API, dos formas de consumirla</a:t>
            </a:r>
            <a:endParaRPr b="0" i="0" sz="2400" u="none" cap="none" strike="noStrike">
              <a:solidFill>
                <a:schemeClr val="dk1"/>
              </a:solidFill>
              <a:latin typeface="Calibri"/>
              <a:ea typeface="Calibri"/>
              <a:cs typeface="Calibri"/>
              <a:sym typeface="Calibri"/>
            </a:endParaRPr>
          </a:p>
        </p:txBody>
      </p:sp>
      <p:sp>
        <p:nvSpPr>
          <p:cNvPr id="160" name="Google Shape;160;g3f8e260bd44_0_4"/>
          <p:cNvSpPr/>
          <p:nvPr/>
        </p:nvSpPr>
        <p:spPr>
          <a:xfrm>
            <a:off x="3017520" y="1234440"/>
            <a:ext cx="3108900" cy="2514600"/>
          </a:xfrm>
          <a:prstGeom prst="roundRect">
            <a:avLst>
              <a:gd fmla="val 2182" name="adj"/>
            </a:avLst>
          </a:prstGeom>
          <a:solidFill>
            <a:srgbClr val="F2F4F8"/>
          </a:solidFill>
          <a:ln cap="flat" cmpd="sng" w="19050">
            <a:solidFill>
              <a:srgbClr val="2C3E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f8e260bd44_0_4"/>
          <p:cNvSpPr/>
          <p:nvPr/>
        </p:nvSpPr>
        <p:spPr>
          <a:xfrm>
            <a:off x="3154680" y="1344168"/>
            <a:ext cx="411600" cy="411600"/>
          </a:xfrm>
          <a:prstGeom prst="rect">
            <a:avLst/>
          </a:prstGeom>
          <a:solidFill>
            <a:srgbClr val="FFFFFF"/>
          </a:solidFill>
          <a:ln cap="flat" cmpd="sng" w="9525">
            <a:solidFill>
              <a:srgbClr val="99999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f8e260bd44_0_4"/>
          <p:cNvSpPr txBox="1"/>
          <p:nvPr/>
        </p:nvSpPr>
        <p:spPr>
          <a:xfrm>
            <a:off x="3154680" y="1344168"/>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9999"/>
              </a:buClr>
              <a:buSzPts val="700"/>
              <a:buFont typeface="Calibri"/>
              <a:buNone/>
            </a:pPr>
            <a:r>
              <a:rPr b="0" i="1" lang="en-US" sz="700" u="none" cap="none" strike="noStrike">
                <a:solidFill>
                  <a:srgbClr val="999999"/>
                </a:solidFill>
                <a:latin typeface="Calibri"/>
                <a:ea typeface="Calibri"/>
                <a:cs typeface="Calibri"/>
                <a:sym typeface="Calibri"/>
              </a:rPr>
              <a:t>logo</a:t>
            </a:r>
            <a:endParaRPr b="0" i="0" sz="700" u="none" cap="none" strike="noStrike">
              <a:solidFill>
                <a:schemeClr val="dk1"/>
              </a:solidFill>
              <a:latin typeface="Calibri"/>
              <a:ea typeface="Calibri"/>
              <a:cs typeface="Calibri"/>
              <a:sym typeface="Calibri"/>
            </a:endParaRPr>
          </a:p>
        </p:txBody>
      </p:sp>
      <p:sp>
        <p:nvSpPr>
          <p:cNvPr id="163" name="Google Shape;163;g3f8e260bd44_0_4"/>
          <p:cNvSpPr txBox="1"/>
          <p:nvPr/>
        </p:nvSpPr>
        <p:spPr>
          <a:xfrm>
            <a:off x="3657600" y="1325880"/>
            <a:ext cx="2286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Cloud Run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99999"/>
              </a:buClr>
              <a:buSzPts val="900"/>
              <a:buFont typeface="Calibri"/>
              <a:buNone/>
            </a:pPr>
            <a:r>
              <a:rPr b="0" i="0" lang="en-US" sz="900" u="none" cap="none" strike="noStrike">
                <a:solidFill>
                  <a:srgbClr val="999999"/>
                </a:solidFill>
                <a:latin typeface="Calibri"/>
                <a:ea typeface="Calibri"/>
                <a:cs typeface="Calibri"/>
                <a:sym typeface="Calibri"/>
              </a:rPr>
              <a:t>churn-api  ·  imagen :v3</a:t>
            </a:r>
            <a:endParaRPr b="0" i="0" sz="1300" u="none" cap="none" strike="noStrike">
              <a:solidFill>
                <a:schemeClr val="dk1"/>
              </a:solidFill>
              <a:latin typeface="Calibri"/>
              <a:ea typeface="Calibri"/>
              <a:cs typeface="Calibri"/>
              <a:sym typeface="Calibri"/>
            </a:endParaRPr>
          </a:p>
        </p:txBody>
      </p:sp>
      <p:sp>
        <p:nvSpPr>
          <p:cNvPr id="164" name="Google Shape;164;g3f8e260bd44_0_4"/>
          <p:cNvSpPr/>
          <p:nvPr/>
        </p:nvSpPr>
        <p:spPr>
          <a:xfrm>
            <a:off x="3154680" y="1874520"/>
            <a:ext cx="2834700" cy="365700"/>
          </a:xfrm>
          <a:prstGeom prst="rect">
            <a:avLst/>
          </a:prstGeom>
          <a:solidFill>
            <a:srgbClr val="FFFFFF"/>
          </a:solidFill>
          <a:ln cap="flat" cmpd="sng" w="9525">
            <a:solidFill>
              <a:srgbClr val="DDE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3f8e260bd44_0_4"/>
          <p:cNvSpPr/>
          <p:nvPr/>
        </p:nvSpPr>
        <p:spPr>
          <a:xfrm>
            <a:off x="3154680" y="1874520"/>
            <a:ext cx="45600" cy="365700"/>
          </a:xfrm>
          <a:prstGeom prst="rect">
            <a:avLst/>
          </a:prstGeom>
          <a:solidFill>
            <a:srgbClr val="3787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3f8e260bd44_0_4"/>
          <p:cNvSpPr txBox="1"/>
          <p:nvPr/>
        </p:nvSpPr>
        <p:spPr>
          <a:xfrm>
            <a:off x="3273552" y="1874520"/>
            <a:ext cx="2697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FastAPI   </a:t>
            </a:r>
            <a:r>
              <a:rPr b="0" i="0" lang="en-US" sz="900" u="none" cap="none" strike="noStrike">
                <a:solidFill>
                  <a:srgbClr val="999999"/>
                </a:solidFill>
                <a:latin typeface="Calibri"/>
                <a:ea typeface="Calibri"/>
                <a:cs typeface="Calibri"/>
                <a:sym typeface="Calibri"/>
              </a:rPr>
              <a:t>endpoint /predict</a:t>
            </a:r>
            <a:endParaRPr b="0" i="0" sz="1000" u="none" cap="none" strike="noStrike">
              <a:solidFill>
                <a:schemeClr val="dk1"/>
              </a:solidFill>
              <a:latin typeface="Calibri"/>
              <a:ea typeface="Calibri"/>
              <a:cs typeface="Calibri"/>
              <a:sym typeface="Calibri"/>
            </a:endParaRPr>
          </a:p>
        </p:txBody>
      </p:sp>
      <p:sp>
        <p:nvSpPr>
          <p:cNvPr id="167" name="Google Shape;167;g3f8e260bd44_0_4"/>
          <p:cNvSpPr/>
          <p:nvPr/>
        </p:nvSpPr>
        <p:spPr>
          <a:xfrm>
            <a:off x="3154680" y="2304288"/>
            <a:ext cx="2834700" cy="365700"/>
          </a:xfrm>
          <a:prstGeom prst="rect">
            <a:avLst/>
          </a:prstGeom>
          <a:solidFill>
            <a:srgbClr val="FFFFFF"/>
          </a:solidFill>
          <a:ln cap="flat" cmpd="sng" w="9525">
            <a:solidFill>
              <a:srgbClr val="DDE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f8e260bd44_0_4"/>
          <p:cNvSpPr/>
          <p:nvPr/>
        </p:nvSpPr>
        <p:spPr>
          <a:xfrm>
            <a:off x="3154680" y="2304288"/>
            <a:ext cx="45600" cy="365700"/>
          </a:xfrm>
          <a:prstGeom prst="rect">
            <a:avLst/>
          </a:prstGeom>
          <a:solidFill>
            <a:srgbClr val="3787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3f8e260bd44_0_4"/>
          <p:cNvSpPr txBox="1"/>
          <p:nvPr/>
        </p:nvSpPr>
        <p:spPr>
          <a:xfrm>
            <a:off x="3273552" y="2304288"/>
            <a:ext cx="2697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Contrato Pydantic   </a:t>
            </a:r>
            <a:r>
              <a:rPr b="0" i="0" lang="en-US" sz="900" u="none" cap="none" strike="noStrike">
                <a:solidFill>
                  <a:srgbClr val="999999"/>
                </a:solidFill>
                <a:latin typeface="Calibri"/>
                <a:ea typeface="Calibri"/>
                <a:cs typeface="Calibri"/>
                <a:sym typeface="Calibri"/>
              </a:rPr>
              <a:t>valida o responde 422</a:t>
            </a:r>
            <a:endParaRPr b="0" i="0" sz="1000" u="none" cap="none" strike="noStrike">
              <a:solidFill>
                <a:schemeClr val="dk1"/>
              </a:solidFill>
              <a:latin typeface="Calibri"/>
              <a:ea typeface="Calibri"/>
              <a:cs typeface="Calibri"/>
              <a:sym typeface="Calibri"/>
            </a:endParaRPr>
          </a:p>
        </p:txBody>
      </p:sp>
      <p:sp>
        <p:nvSpPr>
          <p:cNvPr id="170" name="Google Shape;170;g3f8e260bd44_0_4"/>
          <p:cNvSpPr/>
          <p:nvPr/>
        </p:nvSpPr>
        <p:spPr>
          <a:xfrm>
            <a:off x="3154680" y="2734056"/>
            <a:ext cx="2834700" cy="365700"/>
          </a:xfrm>
          <a:prstGeom prst="rect">
            <a:avLst/>
          </a:prstGeom>
          <a:solidFill>
            <a:srgbClr val="FFFFFF"/>
          </a:solidFill>
          <a:ln cap="flat" cmpd="sng" w="9525">
            <a:solidFill>
              <a:srgbClr val="DDE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3f8e260bd44_0_4"/>
          <p:cNvSpPr/>
          <p:nvPr/>
        </p:nvSpPr>
        <p:spPr>
          <a:xfrm>
            <a:off x="3154680" y="2734056"/>
            <a:ext cx="45600" cy="365700"/>
          </a:xfrm>
          <a:prstGeom prst="rect">
            <a:avLst/>
          </a:prstGeom>
          <a:solidFill>
            <a:srgbClr val="3787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f8e260bd44_0_4"/>
          <p:cNvSpPr txBox="1"/>
          <p:nvPr/>
        </p:nvSpPr>
        <p:spPr>
          <a:xfrm>
            <a:off x="3273552" y="2734056"/>
            <a:ext cx="2697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Vector de features   </a:t>
            </a:r>
            <a:r>
              <a:rPr b="0" i="0" lang="en-US" sz="900" u="none" cap="none" strike="noStrike">
                <a:solidFill>
                  <a:srgbClr val="999999"/>
                </a:solidFill>
                <a:latin typeface="Calibri"/>
                <a:ea typeface="Calibri"/>
                <a:cs typeface="Calibri"/>
                <a:sym typeface="Calibri"/>
              </a:rPr>
              <a:t>siempre en FEATURE_ORDER</a:t>
            </a:r>
            <a:endParaRPr b="0" i="0" sz="1000" u="none" cap="none" strike="noStrike">
              <a:solidFill>
                <a:schemeClr val="dk1"/>
              </a:solidFill>
              <a:latin typeface="Calibri"/>
              <a:ea typeface="Calibri"/>
              <a:cs typeface="Calibri"/>
              <a:sym typeface="Calibri"/>
            </a:endParaRPr>
          </a:p>
        </p:txBody>
      </p:sp>
      <p:sp>
        <p:nvSpPr>
          <p:cNvPr id="173" name="Google Shape;173;g3f8e260bd44_0_4"/>
          <p:cNvSpPr/>
          <p:nvPr/>
        </p:nvSpPr>
        <p:spPr>
          <a:xfrm>
            <a:off x="3154680" y="3163824"/>
            <a:ext cx="2834700" cy="365700"/>
          </a:xfrm>
          <a:prstGeom prst="rect">
            <a:avLst/>
          </a:prstGeom>
          <a:solidFill>
            <a:srgbClr val="FFFFFF"/>
          </a:solidFill>
          <a:ln cap="flat" cmpd="sng" w="9525">
            <a:solidFill>
              <a:srgbClr val="DDE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f8e260bd44_0_4"/>
          <p:cNvSpPr/>
          <p:nvPr/>
        </p:nvSpPr>
        <p:spPr>
          <a:xfrm>
            <a:off x="3154680" y="3163824"/>
            <a:ext cx="45600" cy="365700"/>
          </a:xfrm>
          <a:prstGeom prst="rect">
            <a:avLst/>
          </a:prstGeom>
          <a:solidFill>
            <a:srgbClr val="3787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f8e260bd44_0_4"/>
          <p:cNvSpPr txBox="1"/>
          <p:nvPr/>
        </p:nvSpPr>
        <p:spPr>
          <a:xfrm>
            <a:off x="3273552" y="3163824"/>
            <a:ext cx="2697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Modelo XGBoost   </a:t>
            </a:r>
            <a:r>
              <a:rPr b="0" i="0" lang="en-US" sz="900" u="none" cap="none" strike="noStrike">
                <a:solidFill>
                  <a:srgbClr val="999999"/>
                </a:solidFill>
                <a:latin typeface="Calibri"/>
                <a:ea typeface="Calibri"/>
                <a:cs typeface="Calibri"/>
                <a:sym typeface="Calibri"/>
              </a:rPr>
              <a:t>descargado de GCS al arrancar</a:t>
            </a:r>
            <a:endParaRPr b="0" i="0" sz="1000" u="none" cap="none" strike="noStrike">
              <a:solidFill>
                <a:schemeClr val="dk1"/>
              </a:solidFill>
              <a:latin typeface="Calibri"/>
              <a:ea typeface="Calibri"/>
              <a:cs typeface="Calibri"/>
              <a:sym typeface="Calibri"/>
            </a:endParaRPr>
          </a:p>
        </p:txBody>
      </p:sp>
      <p:sp>
        <p:nvSpPr>
          <p:cNvPr id="176" name="Google Shape;176;g3f8e260bd44_0_4"/>
          <p:cNvSpPr txBox="1"/>
          <p:nvPr/>
        </p:nvSpPr>
        <p:spPr>
          <a:xfrm>
            <a:off x="3063240" y="3529584"/>
            <a:ext cx="30174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9999"/>
              </a:buClr>
              <a:buSzPts val="750"/>
              <a:buFont typeface="Calibri"/>
              <a:buNone/>
            </a:pPr>
            <a:r>
              <a:rPr b="0" i="0" lang="en-US" sz="750" u="none" cap="none" strike="noStrike">
                <a:solidFill>
                  <a:srgbClr val="999999"/>
                </a:solidFill>
                <a:latin typeface="Calibri"/>
                <a:ea typeface="Calibri"/>
                <a:cs typeface="Calibri"/>
                <a:sym typeface="Calibri"/>
              </a:rPr>
              <a:t>min-instances=0   ·   max-instances=2   ·   IAM: --no-allow-unauthenticated</a:t>
            </a:r>
            <a:endParaRPr b="0" i="0" sz="750" u="none" cap="none" strike="noStrike">
              <a:solidFill>
                <a:schemeClr val="dk1"/>
              </a:solidFill>
              <a:latin typeface="Calibri"/>
              <a:ea typeface="Calibri"/>
              <a:cs typeface="Calibri"/>
              <a:sym typeface="Calibri"/>
            </a:endParaRPr>
          </a:p>
        </p:txBody>
      </p:sp>
      <p:sp>
        <p:nvSpPr>
          <p:cNvPr id="177" name="Google Shape;177;g3f8e260bd44_0_4"/>
          <p:cNvSpPr/>
          <p:nvPr/>
        </p:nvSpPr>
        <p:spPr>
          <a:xfrm>
            <a:off x="274320" y="2057400"/>
            <a:ext cx="2514600" cy="868800"/>
          </a:xfrm>
          <a:prstGeom prst="rect">
            <a:avLst/>
          </a:prstGeom>
          <a:solidFill>
            <a:srgbClr val="FFFFFF"/>
          </a:solidFill>
          <a:ln>
            <a:noFill/>
          </a:ln>
          <a:effectLst>
            <a:outerShdw blurRad="50800" rotWithShape="0" algn="bl" dir="5400000" dist="127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3f8e260bd44_0_4"/>
          <p:cNvSpPr/>
          <p:nvPr/>
        </p:nvSpPr>
        <p:spPr>
          <a:xfrm>
            <a:off x="274320" y="2057400"/>
            <a:ext cx="63900" cy="868800"/>
          </a:xfrm>
          <a:prstGeom prst="rect">
            <a:avLst/>
          </a:prstGeom>
          <a:solidFill>
            <a:srgbClr val="E968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f8e260bd44_0_4"/>
          <p:cNvSpPr/>
          <p:nvPr/>
        </p:nvSpPr>
        <p:spPr>
          <a:xfrm>
            <a:off x="475488" y="2308860"/>
            <a:ext cx="365700" cy="365700"/>
          </a:xfrm>
          <a:prstGeom prst="rect">
            <a:avLst/>
          </a:prstGeom>
          <a:solidFill>
            <a:srgbClr val="FFFFFF"/>
          </a:solidFill>
          <a:ln cap="flat" cmpd="sng" w="9525">
            <a:solidFill>
              <a:srgbClr val="99999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3f8e260bd44_0_4"/>
          <p:cNvSpPr txBox="1"/>
          <p:nvPr/>
        </p:nvSpPr>
        <p:spPr>
          <a:xfrm>
            <a:off x="475488" y="2308860"/>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9999"/>
              </a:buClr>
              <a:buSzPts val="700"/>
              <a:buFont typeface="Calibri"/>
              <a:buNone/>
            </a:pPr>
            <a:r>
              <a:rPr b="0" i="1" lang="en-US" sz="700" u="none" cap="none" strike="noStrike">
                <a:solidFill>
                  <a:srgbClr val="999999"/>
                </a:solidFill>
                <a:latin typeface="Calibri"/>
                <a:ea typeface="Calibri"/>
                <a:cs typeface="Calibri"/>
                <a:sym typeface="Calibri"/>
              </a:rPr>
              <a:t>logo</a:t>
            </a:r>
            <a:endParaRPr b="0" i="0" sz="700" u="none" cap="none" strike="noStrike">
              <a:solidFill>
                <a:schemeClr val="dk1"/>
              </a:solidFill>
              <a:latin typeface="Calibri"/>
              <a:ea typeface="Calibri"/>
              <a:cs typeface="Calibri"/>
              <a:sym typeface="Calibri"/>
            </a:endParaRPr>
          </a:p>
        </p:txBody>
      </p:sp>
      <p:sp>
        <p:nvSpPr>
          <p:cNvPr id="181" name="Google Shape;181;g3f8e260bd44_0_4"/>
          <p:cNvSpPr txBox="1"/>
          <p:nvPr/>
        </p:nvSpPr>
        <p:spPr>
          <a:xfrm>
            <a:off x="960120" y="2057400"/>
            <a:ext cx="16917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683B"/>
              </a:buClr>
              <a:buSzPts val="1200"/>
              <a:buFont typeface="Calibri"/>
              <a:buNone/>
            </a:pPr>
            <a:r>
              <a:rPr b="1" i="0" lang="en-US" sz="1200" u="none" cap="none" strike="noStrike">
                <a:solidFill>
                  <a:srgbClr val="E9683B"/>
                </a:solidFill>
                <a:latin typeface="Calibri"/>
                <a:ea typeface="Calibri"/>
                <a:cs typeface="Calibri"/>
                <a:sym typeface="Calibri"/>
              </a:rPr>
              <a:t>Tiempo Real</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curl / Streamlit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1 registro, alguien espera</a:t>
            </a:r>
            <a:endParaRPr b="0" i="0" sz="1200" u="none" cap="none" strike="noStrike">
              <a:solidFill>
                <a:schemeClr val="dk1"/>
              </a:solidFill>
              <a:latin typeface="Calibri"/>
              <a:ea typeface="Calibri"/>
              <a:cs typeface="Calibri"/>
              <a:sym typeface="Calibri"/>
            </a:endParaRPr>
          </a:p>
        </p:txBody>
      </p:sp>
      <p:sp>
        <p:nvSpPr>
          <p:cNvPr id="182" name="Google Shape;182;g3f8e260bd44_0_4"/>
          <p:cNvSpPr/>
          <p:nvPr/>
        </p:nvSpPr>
        <p:spPr>
          <a:xfrm>
            <a:off x="6355080" y="2057400"/>
            <a:ext cx="2514600" cy="868800"/>
          </a:xfrm>
          <a:prstGeom prst="rect">
            <a:avLst/>
          </a:prstGeom>
          <a:solidFill>
            <a:srgbClr val="FFFFFF"/>
          </a:solidFill>
          <a:ln>
            <a:noFill/>
          </a:ln>
          <a:effectLst>
            <a:outerShdw blurRad="50800" rotWithShape="0" algn="bl" dir="5400000" dist="127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f8e260bd44_0_4"/>
          <p:cNvSpPr/>
          <p:nvPr/>
        </p:nvSpPr>
        <p:spPr>
          <a:xfrm>
            <a:off x="6355080" y="2057400"/>
            <a:ext cx="63900" cy="868800"/>
          </a:xfrm>
          <a:prstGeom prst="rect">
            <a:avLst/>
          </a:prstGeom>
          <a:solidFill>
            <a:srgbClr val="5454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f8e260bd44_0_4"/>
          <p:cNvSpPr/>
          <p:nvPr/>
        </p:nvSpPr>
        <p:spPr>
          <a:xfrm>
            <a:off x="6556248" y="2308860"/>
            <a:ext cx="365700" cy="365700"/>
          </a:xfrm>
          <a:prstGeom prst="rect">
            <a:avLst/>
          </a:prstGeom>
          <a:solidFill>
            <a:srgbClr val="FFFFFF"/>
          </a:solidFill>
          <a:ln cap="flat" cmpd="sng" w="9525">
            <a:solidFill>
              <a:srgbClr val="99999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f8e260bd44_0_4"/>
          <p:cNvSpPr txBox="1"/>
          <p:nvPr/>
        </p:nvSpPr>
        <p:spPr>
          <a:xfrm>
            <a:off x="6556248" y="2308860"/>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9999"/>
              </a:buClr>
              <a:buSzPts val="700"/>
              <a:buFont typeface="Calibri"/>
              <a:buNone/>
            </a:pPr>
            <a:r>
              <a:rPr b="0" i="1" lang="en-US" sz="700" u="none" cap="none" strike="noStrike">
                <a:solidFill>
                  <a:srgbClr val="999999"/>
                </a:solidFill>
                <a:latin typeface="Calibri"/>
                <a:ea typeface="Calibri"/>
                <a:cs typeface="Calibri"/>
                <a:sym typeface="Calibri"/>
              </a:rPr>
              <a:t>logo</a:t>
            </a:r>
            <a:endParaRPr b="0" i="0" sz="700" u="none" cap="none" strike="noStrike">
              <a:solidFill>
                <a:schemeClr val="dk1"/>
              </a:solidFill>
              <a:latin typeface="Calibri"/>
              <a:ea typeface="Calibri"/>
              <a:cs typeface="Calibri"/>
              <a:sym typeface="Calibri"/>
            </a:endParaRPr>
          </a:p>
        </p:txBody>
      </p:sp>
      <p:sp>
        <p:nvSpPr>
          <p:cNvPr id="186" name="Google Shape;186;g3f8e260bd44_0_4"/>
          <p:cNvSpPr txBox="1"/>
          <p:nvPr/>
        </p:nvSpPr>
        <p:spPr>
          <a:xfrm>
            <a:off x="7040880" y="2057400"/>
            <a:ext cx="16917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54E9"/>
              </a:buClr>
              <a:buSzPts val="1200"/>
              <a:buFont typeface="Calibri"/>
              <a:buNone/>
            </a:pPr>
            <a:r>
              <a:rPr b="1" i="0" lang="en-US" sz="1200" u="none" cap="none" strike="noStrike">
                <a:solidFill>
                  <a:srgbClr val="5454E9"/>
                </a:solidFill>
                <a:latin typeface="Calibri"/>
                <a:ea typeface="Calibri"/>
                <a:cs typeface="Calibri"/>
                <a:sym typeface="Calibri"/>
              </a:rPr>
              <a:t>Batch</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Airflow</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CSV de N registros</a:t>
            </a:r>
            <a:endParaRPr b="0" i="0" sz="1200" u="none" cap="none" strike="noStrike">
              <a:solidFill>
                <a:schemeClr val="dk1"/>
              </a:solidFill>
              <a:latin typeface="Calibri"/>
              <a:ea typeface="Calibri"/>
              <a:cs typeface="Calibri"/>
              <a:sym typeface="Calibri"/>
            </a:endParaRPr>
          </a:p>
        </p:txBody>
      </p:sp>
      <p:sp>
        <p:nvSpPr>
          <p:cNvPr id="187" name="Google Shape;187;g3f8e260bd44_0_4"/>
          <p:cNvSpPr/>
          <p:nvPr/>
        </p:nvSpPr>
        <p:spPr>
          <a:xfrm>
            <a:off x="274320" y="4069080"/>
            <a:ext cx="3017400" cy="658500"/>
          </a:xfrm>
          <a:prstGeom prst="rect">
            <a:avLst/>
          </a:prstGeom>
          <a:solidFill>
            <a:srgbClr val="FFFFFF"/>
          </a:solidFill>
          <a:ln>
            <a:noFill/>
          </a:ln>
          <a:effectLst>
            <a:outerShdw blurRad="50800" rotWithShape="0" algn="bl" dir="5400000" dist="127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3f8e260bd44_0_4"/>
          <p:cNvSpPr/>
          <p:nvPr/>
        </p:nvSpPr>
        <p:spPr>
          <a:xfrm>
            <a:off x="274320" y="4069080"/>
            <a:ext cx="63900" cy="658500"/>
          </a:xfrm>
          <a:prstGeom prst="rect">
            <a:avLst/>
          </a:prstGeom>
          <a:solidFill>
            <a:srgbClr val="E968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f8e260bd44_0_4"/>
          <p:cNvSpPr txBox="1"/>
          <p:nvPr/>
        </p:nvSpPr>
        <p:spPr>
          <a:xfrm>
            <a:off x="502920" y="4069080"/>
            <a:ext cx="26517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683B"/>
              </a:buClr>
              <a:buSzPts val="1200"/>
              <a:buFont typeface="Calibri"/>
              <a:buNone/>
            </a:pPr>
            <a:r>
              <a:rPr b="1" i="0" lang="en-US" sz="1200" u="none" cap="none" strike="noStrike">
                <a:solidFill>
                  <a:srgbClr val="E9683B"/>
                </a:solidFill>
                <a:latin typeface="Calibri"/>
                <a:ea typeface="Calibri"/>
                <a:cs typeface="Calibri"/>
                <a:sym typeface="Calibri"/>
              </a:rPr>
              <a:t>Respuesta en pantalla</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la ve quien preguntó, y se pierde</a:t>
            </a:r>
            <a:endParaRPr b="0" i="0" sz="1200" u="none" cap="none" strike="noStrike">
              <a:solidFill>
                <a:schemeClr val="dk1"/>
              </a:solidFill>
              <a:latin typeface="Calibri"/>
              <a:ea typeface="Calibri"/>
              <a:cs typeface="Calibri"/>
              <a:sym typeface="Calibri"/>
            </a:endParaRPr>
          </a:p>
        </p:txBody>
      </p:sp>
      <p:sp>
        <p:nvSpPr>
          <p:cNvPr id="190" name="Google Shape;190;g3f8e260bd44_0_4"/>
          <p:cNvSpPr/>
          <p:nvPr/>
        </p:nvSpPr>
        <p:spPr>
          <a:xfrm>
            <a:off x="5852160" y="4069080"/>
            <a:ext cx="3017400" cy="658500"/>
          </a:xfrm>
          <a:prstGeom prst="rect">
            <a:avLst/>
          </a:prstGeom>
          <a:solidFill>
            <a:srgbClr val="FFFFFF"/>
          </a:solidFill>
          <a:ln>
            <a:noFill/>
          </a:ln>
          <a:effectLst>
            <a:outerShdw blurRad="50800" rotWithShape="0" algn="bl" dir="5400000" dist="127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f8e260bd44_0_4"/>
          <p:cNvSpPr/>
          <p:nvPr/>
        </p:nvSpPr>
        <p:spPr>
          <a:xfrm>
            <a:off x="5852160" y="4069080"/>
            <a:ext cx="63900" cy="658500"/>
          </a:xfrm>
          <a:prstGeom prst="rect">
            <a:avLst/>
          </a:prstGeom>
          <a:solidFill>
            <a:srgbClr val="5454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f8e260bd44_0_4"/>
          <p:cNvSpPr/>
          <p:nvPr/>
        </p:nvSpPr>
        <p:spPr>
          <a:xfrm>
            <a:off x="6053328" y="4215384"/>
            <a:ext cx="365700" cy="365700"/>
          </a:xfrm>
          <a:prstGeom prst="rect">
            <a:avLst/>
          </a:prstGeom>
          <a:solidFill>
            <a:srgbClr val="FFFFFF"/>
          </a:solidFill>
          <a:ln cap="flat" cmpd="sng" w="9525">
            <a:solidFill>
              <a:srgbClr val="99999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3f8e260bd44_0_4"/>
          <p:cNvSpPr txBox="1"/>
          <p:nvPr/>
        </p:nvSpPr>
        <p:spPr>
          <a:xfrm>
            <a:off x="6053328" y="4215384"/>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9999"/>
              </a:buClr>
              <a:buSzPts val="700"/>
              <a:buFont typeface="Calibri"/>
              <a:buNone/>
            </a:pPr>
            <a:r>
              <a:rPr b="0" i="1" lang="en-US" sz="700" u="none" cap="none" strike="noStrike">
                <a:solidFill>
                  <a:srgbClr val="999999"/>
                </a:solidFill>
                <a:latin typeface="Calibri"/>
                <a:ea typeface="Calibri"/>
                <a:cs typeface="Calibri"/>
                <a:sym typeface="Calibri"/>
              </a:rPr>
              <a:t>logo</a:t>
            </a:r>
            <a:endParaRPr b="0" i="0" sz="700" u="none" cap="none" strike="noStrike">
              <a:solidFill>
                <a:schemeClr val="dk1"/>
              </a:solidFill>
              <a:latin typeface="Calibri"/>
              <a:ea typeface="Calibri"/>
              <a:cs typeface="Calibri"/>
              <a:sym typeface="Calibri"/>
            </a:endParaRPr>
          </a:p>
        </p:txBody>
      </p:sp>
      <p:sp>
        <p:nvSpPr>
          <p:cNvPr id="194" name="Google Shape;194;g3f8e260bd44_0_4"/>
          <p:cNvSpPr txBox="1"/>
          <p:nvPr/>
        </p:nvSpPr>
        <p:spPr>
          <a:xfrm>
            <a:off x="6537960" y="4069080"/>
            <a:ext cx="21945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54E9"/>
              </a:buClr>
              <a:buSzPts val="1200"/>
              <a:buFont typeface="Calibri"/>
              <a:buNone/>
            </a:pPr>
            <a:r>
              <a:rPr b="1" i="0" lang="en-US" sz="1200" u="none" cap="none" strike="noStrike">
                <a:solidFill>
                  <a:srgbClr val="5454E9"/>
                </a:solidFill>
                <a:latin typeface="Calibri"/>
                <a:ea typeface="Calibri"/>
                <a:cs typeface="Calibri"/>
                <a:sym typeface="Calibri"/>
              </a:rPr>
              <a:t>BigQuery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200 → resultados   ·   422 → cuarentena</a:t>
            </a:r>
            <a:endParaRPr b="0" i="0" sz="1200" u="none" cap="none" strike="noStrike">
              <a:solidFill>
                <a:schemeClr val="dk1"/>
              </a:solidFill>
              <a:latin typeface="Calibri"/>
              <a:ea typeface="Calibri"/>
              <a:cs typeface="Calibri"/>
              <a:sym typeface="Calibri"/>
            </a:endParaRPr>
          </a:p>
        </p:txBody>
      </p:sp>
      <p:cxnSp>
        <p:nvCxnSpPr>
          <p:cNvPr id="195" name="Google Shape;195;g3f8e260bd44_0_4"/>
          <p:cNvCxnSpPr/>
          <p:nvPr/>
        </p:nvCxnSpPr>
        <p:spPr>
          <a:xfrm>
            <a:off x="2788920" y="2487168"/>
            <a:ext cx="228600" cy="0"/>
          </a:xfrm>
          <a:prstGeom prst="straightConnector1">
            <a:avLst/>
          </a:prstGeom>
          <a:noFill/>
          <a:ln cap="flat" cmpd="sng" w="28575">
            <a:solidFill>
              <a:srgbClr val="E9683B"/>
            </a:solidFill>
            <a:prstDash val="solid"/>
            <a:round/>
            <a:headEnd len="sm" w="sm" type="none"/>
            <a:tailEnd len="med" w="med" type="triangle"/>
          </a:ln>
        </p:spPr>
      </p:cxnSp>
      <p:cxnSp>
        <p:nvCxnSpPr>
          <p:cNvPr id="196" name="Google Shape;196;g3f8e260bd44_0_4"/>
          <p:cNvCxnSpPr/>
          <p:nvPr/>
        </p:nvCxnSpPr>
        <p:spPr>
          <a:xfrm rot="10800000">
            <a:off x="6126480" y="2487168"/>
            <a:ext cx="228600" cy="0"/>
          </a:xfrm>
          <a:prstGeom prst="straightConnector1">
            <a:avLst/>
          </a:prstGeom>
          <a:noFill/>
          <a:ln cap="flat" cmpd="sng" w="28575">
            <a:solidFill>
              <a:srgbClr val="5454E9"/>
            </a:solidFill>
            <a:prstDash val="solid"/>
            <a:round/>
            <a:headEnd len="sm" w="sm" type="none"/>
            <a:tailEnd len="med" w="med" type="triangle"/>
          </a:ln>
        </p:spPr>
      </p:cxnSp>
      <p:cxnSp>
        <p:nvCxnSpPr>
          <p:cNvPr id="197" name="Google Shape;197;g3f8e260bd44_0_4"/>
          <p:cNvCxnSpPr/>
          <p:nvPr/>
        </p:nvCxnSpPr>
        <p:spPr>
          <a:xfrm flipH="1">
            <a:off x="1783080" y="3767328"/>
            <a:ext cx="1371600" cy="301800"/>
          </a:xfrm>
          <a:prstGeom prst="straightConnector1">
            <a:avLst/>
          </a:prstGeom>
          <a:noFill/>
          <a:ln cap="flat" cmpd="sng" w="28575">
            <a:solidFill>
              <a:srgbClr val="E9683B"/>
            </a:solidFill>
            <a:prstDash val="solid"/>
            <a:round/>
            <a:headEnd len="sm" w="sm" type="none"/>
            <a:tailEnd len="med" w="med" type="triangle"/>
          </a:ln>
        </p:spPr>
      </p:cxnSp>
      <p:cxnSp>
        <p:nvCxnSpPr>
          <p:cNvPr id="198" name="Google Shape;198;g3f8e260bd44_0_4"/>
          <p:cNvCxnSpPr/>
          <p:nvPr/>
        </p:nvCxnSpPr>
        <p:spPr>
          <a:xfrm>
            <a:off x="5989320" y="3767328"/>
            <a:ext cx="1371600" cy="301800"/>
          </a:xfrm>
          <a:prstGeom prst="straightConnector1">
            <a:avLst/>
          </a:prstGeom>
          <a:noFill/>
          <a:ln cap="flat" cmpd="sng" w="28575">
            <a:solidFill>
              <a:srgbClr val="5454E9"/>
            </a:solidFill>
            <a:prstDash val="solid"/>
            <a:round/>
            <a:headEnd len="sm" w="sm" type="none"/>
            <a:tailEnd len="med" w="med" type="triangle"/>
          </a:ln>
        </p:spPr>
      </p:cxnSp>
      <p:sp>
        <p:nvSpPr>
          <p:cNvPr id="199" name="Google Shape;199;g3f8e260bd44_0_4"/>
          <p:cNvSpPr txBox="1"/>
          <p:nvPr/>
        </p:nvSpPr>
        <p:spPr>
          <a:xfrm>
            <a:off x="274320" y="4773168"/>
            <a:ext cx="8595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54E9"/>
              </a:buClr>
              <a:buSzPts val="1050"/>
              <a:buFont typeface="Calibri"/>
              <a:buNone/>
            </a:pPr>
            <a:r>
              <a:rPr b="0" i="1" lang="en-US" sz="1050" u="none" cap="none" strike="noStrike">
                <a:solidFill>
                  <a:srgbClr val="5454E9"/>
                </a:solidFill>
                <a:latin typeface="Calibri"/>
                <a:ea typeface="Calibri"/>
                <a:cs typeface="Calibri"/>
                <a:sym typeface="Calibri"/>
              </a:rPr>
              <a:t>El contenedor es el mismo en los dos casos. Lo que cambia es quién llama, a qué escala, y qué se hace con la respuesta.</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pic>
        <p:nvPicPr>
          <p:cNvPr descr="preencoded.png" id="205" name="Google Shape;205;p7"/>
          <p:cNvPicPr preferRelativeResize="0"/>
          <p:nvPr/>
        </p:nvPicPr>
        <p:blipFill rotWithShape="1">
          <a:blip r:embed="rId3">
            <a:alphaModFix/>
          </a:blip>
          <a:srcRect b="0" l="0" r="0" t="0"/>
          <a:stretch/>
        </p:blipFill>
        <p:spPr>
          <a:xfrm>
            <a:off x="274320" y="137160"/>
            <a:ext cx="1188720" cy="493776"/>
          </a:xfrm>
          <a:prstGeom prst="rect">
            <a:avLst/>
          </a:prstGeom>
          <a:noFill/>
          <a:ln>
            <a:noFill/>
          </a:ln>
        </p:spPr>
      </p:pic>
      <p:sp>
        <p:nvSpPr>
          <p:cNvPr id="206" name="Google Shape;206;p7"/>
          <p:cNvSpPr/>
          <p:nvPr/>
        </p:nvSpPr>
        <p:spPr>
          <a:xfrm>
            <a:off x="5029200" y="137160"/>
            <a:ext cx="4114800" cy="457200"/>
          </a:xfrm>
          <a:prstGeom prst="rect">
            <a:avLst/>
          </a:prstGeom>
          <a:solidFill>
            <a:srgbClr val="378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7"/>
          <p:cNvSpPr/>
          <p:nvPr/>
        </p:nvSpPr>
        <p:spPr>
          <a:xfrm>
            <a:off x="274320" y="777240"/>
            <a:ext cx="859536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2600"/>
              <a:buFont typeface="Arial Black"/>
              <a:buNone/>
            </a:pPr>
            <a:r>
              <a:rPr b="0" i="0" lang="en-US" sz="2600" u="none" cap="none" strike="noStrike">
                <a:solidFill>
                  <a:srgbClr val="2C3E50"/>
                </a:solidFill>
                <a:latin typeface="Arial Black"/>
                <a:ea typeface="Arial Black"/>
                <a:cs typeface="Arial Black"/>
                <a:sym typeface="Arial Black"/>
              </a:rPr>
              <a:t>Patrones de Inferencia</a:t>
            </a:r>
            <a:endParaRPr b="0" i="0" sz="2600" u="none" cap="none" strike="noStrike">
              <a:solidFill>
                <a:schemeClr val="dk1"/>
              </a:solidFill>
              <a:latin typeface="Calibri"/>
              <a:ea typeface="Calibri"/>
              <a:cs typeface="Calibri"/>
              <a:sym typeface="Calibri"/>
            </a:endParaRPr>
          </a:p>
        </p:txBody>
      </p:sp>
      <p:sp>
        <p:nvSpPr>
          <p:cNvPr id="208" name="Google Shape;208;p7"/>
          <p:cNvSpPr/>
          <p:nvPr/>
        </p:nvSpPr>
        <p:spPr>
          <a:xfrm>
            <a:off x="274320" y="1554480"/>
            <a:ext cx="4114800" cy="29260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7"/>
          <p:cNvSpPr/>
          <p:nvPr/>
        </p:nvSpPr>
        <p:spPr>
          <a:xfrm>
            <a:off x="274320" y="1554480"/>
            <a:ext cx="73152" cy="2926080"/>
          </a:xfrm>
          <a:prstGeom prst="rect">
            <a:avLst/>
          </a:prstGeom>
          <a:solidFill>
            <a:srgbClr val="E9683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7"/>
          <p:cNvSpPr/>
          <p:nvPr/>
        </p:nvSpPr>
        <p:spPr>
          <a:xfrm>
            <a:off x="502920" y="1691640"/>
            <a:ext cx="502920" cy="502920"/>
          </a:xfrm>
          <a:prstGeom prst="ellipse">
            <a:avLst/>
          </a:prstGeom>
          <a:solidFill>
            <a:srgbClr val="E9683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1" name="Google Shape;211;p7"/>
          <p:cNvPicPr preferRelativeResize="0"/>
          <p:nvPr/>
        </p:nvPicPr>
        <p:blipFill rotWithShape="1">
          <a:blip r:embed="rId4">
            <a:alphaModFix/>
          </a:blip>
          <a:srcRect b="0" l="0" r="0" t="0"/>
          <a:stretch/>
        </p:blipFill>
        <p:spPr>
          <a:xfrm>
            <a:off x="576072" y="1764792"/>
            <a:ext cx="347472" cy="347472"/>
          </a:xfrm>
          <a:prstGeom prst="rect">
            <a:avLst/>
          </a:prstGeom>
          <a:noFill/>
          <a:ln>
            <a:noFill/>
          </a:ln>
        </p:spPr>
      </p:pic>
      <p:sp>
        <p:nvSpPr>
          <p:cNvPr id="212" name="Google Shape;212;p7"/>
          <p:cNvSpPr/>
          <p:nvPr/>
        </p:nvSpPr>
        <p:spPr>
          <a:xfrm>
            <a:off x="1188720" y="1691640"/>
            <a:ext cx="27432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9683B"/>
              </a:buClr>
              <a:buSzPts val="1800"/>
              <a:buFont typeface="Arial Black"/>
              <a:buNone/>
            </a:pPr>
            <a:r>
              <a:rPr b="0" i="0" lang="en-US" sz="1800" u="none" cap="none" strike="noStrike">
                <a:solidFill>
                  <a:srgbClr val="E9683B"/>
                </a:solidFill>
                <a:latin typeface="Arial Black"/>
                <a:ea typeface="Arial Black"/>
                <a:cs typeface="Arial Black"/>
                <a:sym typeface="Arial Black"/>
              </a:rPr>
              <a:t>Tiempo Real (API)</a:t>
            </a:r>
            <a:endParaRPr b="0" i="0" sz="1800" u="none" cap="none" strike="noStrike">
              <a:solidFill>
                <a:schemeClr val="dk1"/>
              </a:solidFill>
              <a:latin typeface="Calibri"/>
              <a:ea typeface="Calibri"/>
              <a:cs typeface="Calibri"/>
              <a:sym typeface="Calibri"/>
            </a:endParaRPr>
          </a:p>
        </p:txBody>
      </p:sp>
      <p:sp>
        <p:nvSpPr>
          <p:cNvPr id="213" name="Google Shape;213;p7"/>
          <p:cNvSpPr/>
          <p:nvPr/>
        </p:nvSpPr>
        <p:spPr>
          <a:xfrm>
            <a:off x="548640" y="2331720"/>
            <a:ext cx="365760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200"/>
              <a:buFont typeface="Calibri"/>
              <a:buNone/>
            </a:pPr>
            <a:r>
              <a:rPr b="1" i="0" lang="en-US" sz="1200" u="none" cap="none" strike="noStrike">
                <a:solidFill>
                  <a:srgbClr val="2C3E50"/>
                </a:solidFill>
                <a:latin typeface="Calibri"/>
                <a:ea typeface="Calibri"/>
                <a:cs typeface="Calibri"/>
                <a:sym typeface="Calibri"/>
              </a:rPr>
              <a:t>1 registro → 1 respuesta inmediata</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Latencia: milisegundos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Usuario espera la respuesta</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Requiere API siempre disponible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99999"/>
              </a:buClr>
              <a:buSzPts val="1000"/>
              <a:buFont typeface="Calibri"/>
              <a:buNone/>
            </a:pPr>
            <a:r>
              <a:rPr b="0" i="1" lang="en-US" sz="1000" u="none" cap="none" strike="noStrike">
                <a:solidFill>
                  <a:srgbClr val="999999"/>
                </a:solidFill>
                <a:latin typeface="Calibri"/>
                <a:ea typeface="Calibri"/>
                <a:cs typeface="Calibri"/>
                <a:sym typeface="Calibri"/>
              </a:rPr>
              <a:t>curl / Streamlit → Cloud Run → predicción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9683B"/>
              </a:buClr>
              <a:buSzPts val="1200"/>
              <a:buFont typeface="Calibri"/>
              <a:buNone/>
            </a:pPr>
            <a:r>
              <a:rPr b="1" i="0" lang="en-US" sz="1200" u="none" cap="none" strike="noStrike">
                <a:solidFill>
                  <a:srgbClr val="E9683B"/>
                </a:solidFill>
                <a:latin typeface="Calibri"/>
                <a:ea typeface="Calibri"/>
                <a:cs typeface="Calibri"/>
                <a:sym typeface="Calibri"/>
              </a:rPr>
              <a:t>Lo hicimos en U5</a:t>
            </a:r>
            <a:endParaRPr b="0" i="0" sz="1200" u="none" cap="none" strike="noStrike">
              <a:solidFill>
                <a:schemeClr val="dk1"/>
              </a:solidFill>
              <a:latin typeface="Calibri"/>
              <a:ea typeface="Calibri"/>
              <a:cs typeface="Calibri"/>
              <a:sym typeface="Calibri"/>
            </a:endParaRPr>
          </a:p>
        </p:txBody>
      </p:sp>
      <p:sp>
        <p:nvSpPr>
          <p:cNvPr id="214" name="Google Shape;214;p7"/>
          <p:cNvSpPr/>
          <p:nvPr/>
        </p:nvSpPr>
        <p:spPr>
          <a:xfrm>
            <a:off x="4754880" y="1554480"/>
            <a:ext cx="4114800" cy="29260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7"/>
          <p:cNvSpPr/>
          <p:nvPr/>
        </p:nvSpPr>
        <p:spPr>
          <a:xfrm>
            <a:off x="4754880" y="1554480"/>
            <a:ext cx="73152" cy="2926080"/>
          </a:xfrm>
          <a:prstGeom prst="rect">
            <a:avLst/>
          </a:prstGeom>
          <a:solidFill>
            <a:srgbClr val="5454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7"/>
          <p:cNvSpPr/>
          <p:nvPr/>
        </p:nvSpPr>
        <p:spPr>
          <a:xfrm>
            <a:off x="4983480" y="1691640"/>
            <a:ext cx="502920" cy="502920"/>
          </a:xfrm>
          <a:prstGeom prst="ellipse">
            <a:avLst/>
          </a:prstGeom>
          <a:solidFill>
            <a:srgbClr val="5454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7" name="Google Shape;217;p7"/>
          <p:cNvPicPr preferRelativeResize="0"/>
          <p:nvPr/>
        </p:nvPicPr>
        <p:blipFill rotWithShape="1">
          <a:blip r:embed="rId5">
            <a:alphaModFix/>
          </a:blip>
          <a:srcRect b="0" l="0" r="0" t="0"/>
          <a:stretch/>
        </p:blipFill>
        <p:spPr>
          <a:xfrm>
            <a:off x="5056632" y="1764792"/>
            <a:ext cx="347472" cy="347472"/>
          </a:xfrm>
          <a:prstGeom prst="rect">
            <a:avLst/>
          </a:prstGeom>
          <a:noFill/>
          <a:ln>
            <a:noFill/>
          </a:ln>
        </p:spPr>
      </p:pic>
      <p:sp>
        <p:nvSpPr>
          <p:cNvPr id="218" name="Google Shape;218;p7"/>
          <p:cNvSpPr/>
          <p:nvPr/>
        </p:nvSpPr>
        <p:spPr>
          <a:xfrm>
            <a:off x="5669280" y="1691640"/>
            <a:ext cx="301752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54E9"/>
              </a:buClr>
              <a:buSzPts val="1800"/>
              <a:buFont typeface="Arial Black"/>
              <a:buNone/>
            </a:pPr>
            <a:r>
              <a:rPr b="0" i="0" lang="en-US" sz="1800" u="none" cap="none" strike="noStrike">
                <a:solidFill>
                  <a:srgbClr val="5454E9"/>
                </a:solidFill>
                <a:latin typeface="Arial Black"/>
                <a:ea typeface="Arial Black"/>
                <a:cs typeface="Arial Black"/>
                <a:sym typeface="Arial Black"/>
              </a:rPr>
              <a:t>Batch (Orquestado)</a:t>
            </a:r>
            <a:endParaRPr b="0" i="0" sz="1800" u="none" cap="none" strike="noStrike">
              <a:solidFill>
                <a:schemeClr val="dk1"/>
              </a:solidFill>
              <a:latin typeface="Calibri"/>
              <a:ea typeface="Calibri"/>
              <a:cs typeface="Calibri"/>
              <a:sym typeface="Calibri"/>
            </a:endParaRPr>
          </a:p>
        </p:txBody>
      </p:sp>
      <p:sp>
        <p:nvSpPr>
          <p:cNvPr id="219" name="Google Shape;219;p7"/>
          <p:cNvSpPr/>
          <p:nvPr/>
        </p:nvSpPr>
        <p:spPr>
          <a:xfrm>
            <a:off x="5029200" y="2331720"/>
            <a:ext cx="365760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200"/>
              <a:buFont typeface="Calibri"/>
              <a:buNone/>
            </a:pPr>
            <a:r>
              <a:rPr b="1" i="0" lang="en-US" sz="1200" u="none" cap="none" strike="noStrike">
                <a:solidFill>
                  <a:srgbClr val="2C3E50"/>
                </a:solidFill>
                <a:latin typeface="Calibri"/>
                <a:ea typeface="Calibri"/>
                <a:cs typeface="Calibri"/>
                <a:sym typeface="Calibri"/>
              </a:rPr>
              <a:t>N registros → procesamiento programado</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Latencia: minutos/horas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Nadie espera, corre en background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Requiere orquestador (Airflow)</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99999"/>
              </a:buClr>
              <a:buSzPts val="1000"/>
              <a:buFont typeface="Calibri"/>
              <a:buNone/>
            </a:pPr>
            <a:r>
              <a:rPr b="0" i="1" lang="en-US" sz="1000" u="none" cap="none" strike="noStrike">
                <a:solidFill>
                  <a:srgbClr val="999999"/>
                </a:solidFill>
                <a:latin typeface="Calibri"/>
                <a:ea typeface="Calibri"/>
                <a:cs typeface="Calibri"/>
                <a:sym typeface="Calibri"/>
              </a:rPr>
              <a:t>Airflow → CSV → FastAPI → BigQuery</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5454E9"/>
              </a:buClr>
              <a:buSzPts val="1200"/>
              <a:buFont typeface="Calibri"/>
              <a:buNone/>
            </a:pPr>
            <a:r>
              <a:rPr b="1" i="0" lang="en-US" sz="1200" u="none" cap="none" strike="noStrike">
                <a:solidFill>
                  <a:srgbClr val="5454E9"/>
                </a:solidFill>
                <a:latin typeface="Calibri"/>
                <a:ea typeface="Calibri"/>
                <a:cs typeface="Calibri"/>
                <a:sym typeface="Calibri"/>
              </a:rPr>
              <a:t>Lo hacemos en U6 (hoy)</a:t>
            </a:r>
            <a:endParaRPr b="0" i="0" sz="1200" u="none" cap="none" strike="noStrike">
              <a:solidFill>
                <a:schemeClr val="dk1"/>
              </a:solidFill>
              <a:latin typeface="Calibri"/>
              <a:ea typeface="Calibri"/>
              <a:cs typeface="Calibri"/>
              <a:sym typeface="Calibri"/>
            </a:endParaRPr>
          </a:p>
        </p:txBody>
      </p:sp>
      <p:sp>
        <p:nvSpPr>
          <p:cNvPr id="220" name="Google Shape;220;p7"/>
          <p:cNvSpPr/>
          <p:nvPr/>
        </p:nvSpPr>
        <p:spPr>
          <a:xfrm>
            <a:off x="274320" y="4663440"/>
            <a:ext cx="859536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54E9"/>
              </a:buClr>
              <a:buSzPts val="1100"/>
              <a:buFont typeface="Calibri"/>
              <a:buNone/>
            </a:pPr>
            <a:r>
              <a:rPr b="0" i="1" lang="en-US" sz="1100" u="none" cap="none" strike="noStrike">
                <a:solidFill>
                  <a:srgbClr val="5454E9"/>
                </a:solidFill>
                <a:latin typeface="Calibri"/>
                <a:ea typeface="Calibri"/>
                <a:cs typeface="Calibri"/>
                <a:sym typeface="Calibri"/>
              </a:rPr>
              <a:t>Ambos patrones usan la misma API. Solo cambia quién la llama y cuándo.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pic>
        <p:nvPicPr>
          <p:cNvPr descr="preencoded.png" id="225" name="Google Shape;225;p18"/>
          <p:cNvPicPr preferRelativeResize="0"/>
          <p:nvPr/>
        </p:nvPicPr>
        <p:blipFill rotWithShape="1">
          <a:blip r:embed="rId3">
            <a:alphaModFix/>
          </a:blip>
          <a:srcRect b="0" l="0" r="0" t="0"/>
          <a:stretch/>
        </p:blipFill>
        <p:spPr>
          <a:xfrm>
            <a:off x="274320" y="137160"/>
            <a:ext cx="1188720" cy="493776"/>
          </a:xfrm>
          <a:prstGeom prst="rect">
            <a:avLst/>
          </a:prstGeom>
          <a:noFill/>
          <a:ln>
            <a:noFill/>
          </a:ln>
        </p:spPr>
      </p:pic>
      <p:sp>
        <p:nvSpPr>
          <p:cNvPr id="226" name="Google Shape;226;p18"/>
          <p:cNvSpPr/>
          <p:nvPr/>
        </p:nvSpPr>
        <p:spPr>
          <a:xfrm>
            <a:off x="5029200" y="137160"/>
            <a:ext cx="4114800" cy="457200"/>
          </a:xfrm>
          <a:prstGeom prst="rect">
            <a:avLst/>
          </a:prstGeom>
          <a:solidFill>
            <a:srgbClr val="378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8"/>
          <p:cNvSpPr/>
          <p:nvPr/>
        </p:nvSpPr>
        <p:spPr>
          <a:xfrm>
            <a:off x="274320" y="777240"/>
            <a:ext cx="859536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2600"/>
              <a:buFont typeface="Arial Black"/>
              <a:buNone/>
            </a:pPr>
            <a:r>
              <a:rPr b="0" i="0" lang="en-US" sz="2600" u="none" cap="none" strike="noStrike">
                <a:solidFill>
                  <a:srgbClr val="2C3E50"/>
                </a:solidFill>
                <a:latin typeface="Arial Black"/>
                <a:ea typeface="Arial Black"/>
                <a:cs typeface="Arial Black"/>
                <a:sym typeface="Arial Black"/>
              </a:rPr>
              <a:t>Demo en Vivo: UI de Tiempo Real</a:t>
            </a:r>
            <a:endParaRPr b="0" i="0" sz="2600" u="none" cap="none" strike="noStrike">
              <a:solidFill>
                <a:schemeClr val="dk1"/>
              </a:solidFill>
              <a:latin typeface="Calibri"/>
              <a:ea typeface="Calibri"/>
              <a:cs typeface="Calibri"/>
              <a:sym typeface="Calibri"/>
            </a:endParaRPr>
          </a:p>
        </p:txBody>
      </p:sp>
      <p:sp>
        <p:nvSpPr>
          <p:cNvPr id="228" name="Google Shape;228;p18"/>
          <p:cNvSpPr/>
          <p:nvPr/>
        </p:nvSpPr>
        <p:spPr>
          <a:xfrm>
            <a:off x="274320" y="1554480"/>
            <a:ext cx="4114800" cy="29260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8"/>
          <p:cNvSpPr/>
          <p:nvPr/>
        </p:nvSpPr>
        <p:spPr>
          <a:xfrm>
            <a:off x="274320" y="1554480"/>
            <a:ext cx="73152" cy="2926080"/>
          </a:xfrm>
          <a:prstGeom prst="rect">
            <a:avLst/>
          </a:prstGeom>
          <a:solidFill>
            <a:srgbClr val="E9683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8"/>
          <p:cNvSpPr/>
          <p:nvPr/>
        </p:nvSpPr>
        <p:spPr>
          <a:xfrm>
            <a:off x="502920" y="1691640"/>
            <a:ext cx="502920" cy="502920"/>
          </a:xfrm>
          <a:prstGeom prst="ellipse">
            <a:avLst/>
          </a:prstGeom>
          <a:solidFill>
            <a:srgbClr val="E9683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31" name="Google Shape;231;p18"/>
          <p:cNvPicPr preferRelativeResize="0"/>
          <p:nvPr/>
        </p:nvPicPr>
        <p:blipFill rotWithShape="1">
          <a:blip r:embed="rId4">
            <a:alphaModFix/>
          </a:blip>
          <a:srcRect b="0" l="0" r="0" t="0"/>
          <a:stretch/>
        </p:blipFill>
        <p:spPr>
          <a:xfrm>
            <a:off x="576072" y="1764792"/>
            <a:ext cx="347472" cy="347472"/>
          </a:xfrm>
          <a:prstGeom prst="rect">
            <a:avLst/>
          </a:prstGeom>
          <a:noFill/>
          <a:ln>
            <a:noFill/>
          </a:ln>
        </p:spPr>
      </p:pic>
      <p:sp>
        <p:nvSpPr>
          <p:cNvPr id="232" name="Google Shape;232;p18"/>
          <p:cNvSpPr/>
          <p:nvPr/>
        </p:nvSpPr>
        <p:spPr>
          <a:xfrm>
            <a:off x="1188720" y="1691640"/>
            <a:ext cx="27432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9683B"/>
              </a:buClr>
              <a:buSzPts val="1800"/>
              <a:buFont typeface="Arial Black"/>
              <a:buNone/>
            </a:pPr>
            <a:r>
              <a:rPr b="0" i="0" lang="en-US" sz="1800" u="none" cap="none" strike="noStrike">
                <a:solidFill>
                  <a:srgbClr val="E9683B"/>
                </a:solidFill>
                <a:latin typeface="Arial Black"/>
                <a:ea typeface="Arial Black"/>
                <a:cs typeface="Arial Black"/>
                <a:sym typeface="Arial Black"/>
              </a:rPr>
              <a:t>Lo que no funcionó</a:t>
            </a:r>
            <a:endParaRPr b="0" i="0" sz="1800" u="none" cap="none" strike="noStrike">
              <a:solidFill>
                <a:schemeClr val="dk1"/>
              </a:solidFill>
              <a:latin typeface="Calibri"/>
              <a:ea typeface="Calibri"/>
              <a:cs typeface="Calibri"/>
              <a:sym typeface="Calibri"/>
            </a:endParaRPr>
          </a:p>
        </p:txBody>
      </p:sp>
      <p:sp>
        <p:nvSpPr>
          <p:cNvPr id="233" name="Google Shape;233;p18"/>
          <p:cNvSpPr/>
          <p:nvPr/>
        </p:nvSpPr>
        <p:spPr>
          <a:xfrm>
            <a:off x="548640" y="2331720"/>
            <a:ext cx="365760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200"/>
              <a:buFont typeface="Calibri"/>
              <a:buNone/>
            </a:pPr>
            <a:r>
              <a:rPr b="1" i="0" lang="en-US" sz="1200" u="none" cap="none" strike="noStrike">
                <a:solidFill>
                  <a:srgbClr val="2C3E50"/>
                </a:solidFill>
                <a:latin typeface="Calibri"/>
                <a:ea typeface="Calibri"/>
                <a:cs typeface="Calibri"/>
                <a:sym typeface="Calibri"/>
              </a:rPr>
              <a:t>Swagger directo → sin token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Resultado: 403 Forbidden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Proxy: pierde el header Authorization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requested_by = "desconocido-sin-token"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99999"/>
              </a:buClr>
              <a:buSzPts val="1000"/>
              <a:buFont typeface="Calibri"/>
              <a:buNone/>
            </a:pPr>
            <a:r>
              <a:rPr b="0" i="1" lang="en-US" sz="1000" u="none" cap="none" strike="noStrike">
                <a:solidFill>
                  <a:srgbClr val="999999"/>
                </a:solidFill>
                <a:latin typeface="Calibri"/>
                <a:ea typeface="Calibri"/>
                <a:cs typeface="Calibri"/>
                <a:sym typeface="Calibri"/>
              </a:rPr>
              <a:t>navegador → Swagger → sin identidad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9683B"/>
              </a:buClr>
              <a:buSzPts val="1200"/>
              <a:buFont typeface="Calibri"/>
              <a:buNone/>
            </a:pPr>
            <a:r>
              <a:rPr b="1" i="0" lang="en-US" sz="1200" u="none" cap="none" strike="noStrike">
                <a:solidFill>
                  <a:srgbClr val="E9683B"/>
                </a:solidFill>
                <a:latin typeface="Calibri"/>
                <a:ea typeface="Calibri"/>
                <a:cs typeface="Calibri"/>
                <a:sym typeface="Calibri"/>
              </a:rPr>
              <a:t>3 intentos descartados</a:t>
            </a:r>
            <a:endParaRPr b="0" i="0" sz="1200" u="none" cap="none" strike="noStrike">
              <a:solidFill>
                <a:schemeClr val="dk1"/>
              </a:solidFill>
              <a:latin typeface="Calibri"/>
              <a:ea typeface="Calibri"/>
              <a:cs typeface="Calibri"/>
              <a:sym typeface="Calibri"/>
            </a:endParaRPr>
          </a:p>
        </p:txBody>
      </p:sp>
      <p:sp>
        <p:nvSpPr>
          <p:cNvPr id="234" name="Google Shape;234;p18"/>
          <p:cNvSpPr/>
          <p:nvPr/>
        </p:nvSpPr>
        <p:spPr>
          <a:xfrm>
            <a:off x="4754880" y="1554480"/>
            <a:ext cx="4114800" cy="29260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8"/>
          <p:cNvSpPr/>
          <p:nvPr/>
        </p:nvSpPr>
        <p:spPr>
          <a:xfrm>
            <a:off x="4754880" y="1554480"/>
            <a:ext cx="73152" cy="2926080"/>
          </a:xfrm>
          <a:prstGeom prst="rect">
            <a:avLst/>
          </a:prstGeom>
          <a:solidFill>
            <a:srgbClr val="5454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8"/>
          <p:cNvSpPr/>
          <p:nvPr/>
        </p:nvSpPr>
        <p:spPr>
          <a:xfrm>
            <a:off x="4983480" y="1691640"/>
            <a:ext cx="502920" cy="502920"/>
          </a:xfrm>
          <a:prstGeom prst="ellipse">
            <a:avLst/>
          </a:prstGeom>
          <a:solidFill>
            <a:srgbClr val="5454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37" name="Google Shape;237;p18"/>
          <p:cNvPicPr preferRelativeResize="0"/>
          <p:nvPr/>
        </p:nvPicPr>
        <p:blipFill rotWithShape="1">
          <a:blip r:embed="rId5">
            <a:alphaModFix/>
          </a:blip>
          <a:srcRect b="0" l="0" r="0" t="0"/>
          <a:stretch/>
        </p:blipFill>
        <p:spPr>
          <a:xfrm>
            <a:off x="5056632" y="1764792"/>
            <a:ext cx="347472" cy="347472"/>
          </a:xfrm>
          <a:prstGeom prst="rect">
            <a:avLst/>
          </a:prstGeom>
          <a:noFill/>
          <a:ln>
            <a:noFill/>
          </a:ln>
        </p:spPr>
      </p:pic>
      <p:sp>
        <p:nvSpPr>
          <p:cNvPr id="238" name="Google Shape;238;p18"/>
          <p:cNvSpPr/>
          <p:nvPr/>
        </p:nvSpPr>
        <p:spPr>
          <a:xfrm>
            <a:off x="5669280" y="1691640"/>
            <a:ext cx="301752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54E9"/>
              </a:buClr>
              <a:buSzPts val="1800"/>
              <a:buFont typeface="Arial Black"/>
              <a:buNone/>
            </a:pPr>
            <a:r>
              <a:rPr b="0" i="0" lang="en-US" sz="1800" u="none" cap="none" strike="noStrike">
                <a:solidFill>
                  <a:srgbClr val="5454E9"/>
                </a:solidFill>
                <a:latin typeface="Arial Black"/>
                <a:ea typeface="Arial Black"/>
                <a:cs typeface="Arial Black"/>
                <a:sym typeface="Arial Black"/>
              </a:rPr>
              <a:t>Streamlit: por qué sí funciona</a:t>
            </a:r>
            <a:endParaRPr b="0" i="0" sz="1800" u="none" cap="none" strike="noStrike">
              <a:solidFill>
                <a:schemeClr val="dk1"/>
              </a:solidFill>
              <a:latin typeface="Calibri"/>
              <a:ea typeface="Calibri"/>
              <a:cs typeface="Calibri"/>
              <a:sym typeface="Calibri"/>
            </a:endParaRPr>
          </a:p>
        </p:txBody>
      </p:sp>
      <p:sp>
        <p:nvSpPr>
          <p:cNvPr id="239" name="Google Shape;239;p18"/>
          <p:cNvSpPr/>
          <p:nvPr/>
        </p:nvSpPr>
        <p:spPr>
          <a:xfrm>
            <a:off x="5029200" y="2331720"/>
            <a:ext cx="365760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200"/>
              <a:buFont typeface="Calibri"/>
              <a:buNone/>
            </a:pPr>
            <a:r>
              <a:rPr b="1" i="0" lang="en-US" sz="1200" u="none" cap="none" strike="noStrike">
                <a:solidFill>
                  <a:srgbClr val="2C3E50"/>
                </a:solidFill>
                <a:latin typeface="Calibri"/>
                <a:ea typeface="Calibri"/>
                <a:cs typeface="Calibri"/>
                <a:sym typeface="Calibri"/>
              </a:rPr>
              <a:t>Corre en Python, no en el navegador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Pide el token con subprocess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El header Authorization llega completo</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Cada estudiante corre el suyo</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99999"/>
              </a:buClr>
              <a:buSzPts val="1000"/>
              <a:buFont typeface="Calibri"/>
              <a:buNone/>
            </a:pPr>
            <a:r>
              <a:rPr b="0" i="1" lang="en-US" sz="1000" u="none" cap="none" strike="noStrike">
                <a:solidFill>
                  <a:srgbClr val="999999"/>
                </a:solidFill>
                <a:latin typeface="Calibri"/>
                <a:ea typeface="Calibri"/>
                <a:cs typeface="Calibri"/>
                <a:sym typeface="Calibri"/>
              </a:rPr>
              <a:t>Streamlit → Cloud Run → requested_by real</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5454E9"/>
              </a:buClr>
              <a:buSzPts val="1200"/>
              <a:buFont typeface="Calibri"/>
              <a:buNone/>
            </a:pPr>
            <a:r>
              <a:rPr b="1" i="0" lang="en-US" sz="1200" u="none" cap="none" strike="noStrike">
                <a:solidFill>
                  <a:srgbClr val="5454E9"/>
                </a:solidFill>
                <a:latin typeface="Calibri"/>
                <a:ea typeface="Calibri"/>
                <a:cs typeface="Calibri"/>
                <a:sym typeface="Calibri"/>
              </a:rPr>
              <a:t>Lo hacemos en U6 (hoy)</a:t>
            </a:r>
            <a:endParaRPr b="0" i="0" sz="1200" u="none" cap="none" strike="noStrike">
              <a:solidFill>
                <a:schemeClr val="dk1"/>
              </a:solidFill>
              <a:latin typeface="Calibri"/>
              <a:ea typeface="Calibri"/>
              <a:cs typeface="Calibri"/>
              <a:sym typeface="Calibri"/>
            </a:endParaRPr>
          </a:p>
        </p:txBody>
      </p:sp>
      <p:sp>
        <p:nvSpPr>
          <p:cNvPr id="240" name="Google Shape;240;p18"/>
          <p:cNvSpPr/>
          <p:nvPr/>
        </p:nvSpPr>
        <p:spPr>
          <a:xfrm>
            <a:off x="274320" y="4663440"/>
            <a:ext cx="859536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54E9"/>
              </a:buClr>
              <a:buSzPts val="1100"/>
              <a:buFont typeface="Calibri"/>
              <a:buNone/>
            </a:pPr>
            <a:r>
              <a:rPr b="0" i="1" lang="en-US" sz="1100" u="none" cap="none" strike="noStrike">
                <a:solidFill>
                  <a:srgbClr val="5454E9"/>
                </a:solidFill>
                <a:latin typeface="Calibri"/>
                <a:ea typeface="Calibri"/>
                <a:cs typeface="Calibri"/>
                <a:sym typeface="Calibri"/>
              </a:rPr>
              <a:t>Mismo endpoint de la slide anterior, ahora con identidad real de quien consulta.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E9"/>
        </a:solidFill>
      </p:bgPr>
    </p:bg>
    <p:spTree>
      <p:nvGrpSpPr>
        <p:cNvPr id="245" name="Shape 245"/>
        <p:cNvGrpSpPr/>
        <p:nvPr/>
      </p:nvGrpSpPr>
      <p:grpSpPr>
        <a:xfrm>
          <a:off x="0" y="0"/>
          <a:ext cx="0" cy="0"/>
          <a:chOff x="0" y="0"/>
          <a:chExt cx="0" cy="0"/>
        </a:xfrm>
      </p:grpSpPr>
      <p:pic>
        <p:nvPicPr>
          <p:cNvPr descr="preencoded.png" id="246" name="Google Shape;246;p8"/>
          <p:cNvPicPr preferRelativeResize="0"/>
          <p:nvPr/>
        </p:nvPicPr>
        <p:blipFill rotWithShape="1">
          <a:blip r:embed="rId3">
            <a:alphaModFix/>
          </a:blip>
          <a:srcRect b="0" l="0" r="0" t="0"/>
          <a:stretch/>
        </p:blipFill>
        <p:spPr>
          <a:xfrm>
            <a:off x="274320" y="228600"/>
            <a:ext cx="1463040" cy="612648"/>
          </a:xfrm>
          <a:prstGeom prst="rect">
            <a:avLst/>
          </a:prstGeom>
          <a:noFill/>
          <a:ln>
            <a:noFill/>
          </a:ln>
        </p:spPr>
      </p:pic>
      <p:sp>
        <p:nvSpPr>
          <p:cNvPr id="247" name="Google Shape;247;p8"/>
          <p:cNvSpPr/>
          <p:nvPr/>
        </p:nvSpPr>
        <p:spPr>
          <a:xfrm>
            <a:off x="457200" y="822960"/>
            <a:ext cx="8229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3400"/>
              <a:buFont typeface="Arial Black"/>
              <a:buNone/>
            </a:pPr>
            <a:r>
              <a:rPr b="0" i="0" lang="en-US" sz="3400" u="none" cap="none" strike="noStrike">
                <a:solidFill>
                  <a:srgbClr val="FFFFFF"/>
                </a:solidFill>
                <a:latin typeface="Arial Black"/>
                <a:ea typeface="Arial Black"/>
                <a:cs typeface="Arial Black"/>
                <a:sym typeface="Arial Black"/>
              </a:rPr>
              <a:t>Apache Airflow</a:t>
            </a:r>
            <a:endParaRPr b="0" i="0" sz="3400" u="none" cap="none" strike="noStrike">
              <a:solidFill>
                <a:schemeClr val="dk1"/>
              </a:solidFill>
              <a:latin typeface="Calibri"/>
              <a:ea typeface="Calibri"/>
              <a:cs typeface="Calibri"/>
              <a:sym typeface="Calibri"/>
            </a:endParaRPr>
          </a:p>
        </p:txBody>
      </p:sp>
      <p:sp>
        <p:nvSpPr>
          <p:cNvPr id="248" name="Google Shape;248;p8"/>
          <p:cNvSpPr/>
          <p:nvPr/>
        </p:nvSpPr>
        <p:spPr>
          <a:xfrm>
            <a:off x="457200" y="1371600"/>
            <a:ext cx="822960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2EA61"/>
              </a:buClr>
              <a:buSzPts val="1400"/>
              <a:buFont typeface="Calibri"/>
              <a:buNone/>
            </a:pPr>
            <a:r>
              <a:rPr b="0" i="1" lang="en-US" sz="1400" u="none" cap="none" strike="noStrike">
                <a:solidFill>
                  <a:srgbClr val="E2EA61"/>
                </a:solidFill>
                <a:latin typeface="Calibri"/>
                <a:ea typeface="Calibri"/>
                <a:cs typeface="Calibri"/>
                <a:sym typeface="Calibri"/>
              </a:rPr>
              <a:t>El orquestador de workflows más usado en la industria</a:t>
            </a:r>
            <a:endParaRPr b="0" i="0" sz="1400" u="none" cap="none" strike="noStrike">
              <a:solidFill>
                <a:schemeClr val="dk1"/>
              </a:solidFill>
              <a:latin typeface="Calibri"/>
              <a:ea typeface="Calibri"/>
              <a:cs typeface="Calibri"/>
              <a:sym typeface="Calibri"/>
            </a:endParaRPr>
          </a:p>
        </p:txBody>
      </p:sp>
      <p:sp>
        <p:nvSpPr>
          <p:cNvPr id="249" name="Google Shape;249;p8"/>
          <p:cNvSpPr/>
          <p:nvPr/>
        </p:nvSpPr>
        <p:spPr>
          <a:xfrm>
            <a:off x="457200" y="1920240"/>
            <a:ext cx="82296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Airflow NO procesa datos. </a:t>
            </a:r>
            <a:r>
              <a:rPr b="0" i="0" lang="en-US" sz="1500" u="none" cap="none" strike="noStrike">
                <a:solidFill>
                  <a:srgbClr val="E2EA61"/>
                </a:solidFill>
                <a:latin typeface="Calibri"/>
                <a:ea typeface="Calibri"/>
                <a:cs typeface="Calibri"/>
                <a:sym typeface="Calibri"/>
              </a:rPr>
              <a:t>Decide QUÉ se ejecuta, EN QUÉ ORDEN, y QUÉ HACER SI ALGO FALLA.</a:t>
            </a:r>
            <a:endParaRPr b="0" i="0" sz="1500" u="none" cap="none" strike="noStrike">
              <a:solidFill>
                <a:schemeClr val="dk1"/>
              </a:solidFill>
              <a:latin typeface="Calibri"/>
              <a:ea typeface="Calibri"/>
              <a:cs typeface="Calibri"/>
              <a:sym typeface="Calibri"/>
            </a:endParaRPr>
          </a:p>
        </p:txBody>
      </p:sp>
      <p:sp>
        <p:nvSpPr>
          <p:cNvPr id="250" name="Google Shape;250;p8"/>
          <p:cNvSpPr/>
          <p:nvPr/>
        </p:nvSpPr>
        <p:spPr>
          <a:xfrm>
            <a:off x="548640" y="2670048"/>
            <a:ext cx="384048" cy="384048"/>
          </a:xfrm>
          <a:prstGeom prst="ellipse">
            <a:avLst/>
          </a:prstGeom>
          <a:solidFill>
            <a:srgbClr val="E2E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1" name="Google Shape;251;p8"/>
          <p:cNvPicPr preferRelativeResize="0"/>
          <p:nvPr/>
        </p:nvPicPr>
        <p:blipFill rotWithShape="1">
          <a:blip r:embed="rId4">
            <a:alphaModFix/>
          </a:blip>
          <a:srcRect b="0" l="0" r="0" t="0"/>
          <a:stretch/>
        </p:blipFill>
        <p:spPr>
          <a:xfrm>
            <a:off x="621792" y="2743200"/>
            <a:ext cx="237744" cy="237744"/>
          </a:xfrm>
          <a:prstGeom prst="rect">
            <a:avLst/>
          </a:prstGeom>
          <a:noFill/>
          <a:ln>
            <a:noFill/>
          </a:ln>
        </p:spPr>
      </p:pic>
      <p:sp>
        <p:nvSpPr>
          <p:cNvPr id="252" name="Google Shape;252;p8"/>
          <p:cNvSpPr/>
          <p:nvPr/>
        </p:nvSpPr>
        <p:spPr>
          <a:xfrm>
            <a:off x="1097280" y="2633472"/>
            <a:ext cx="3657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Pipelines como código</a:t>
            </a:r>
            <a:endParaRPr b="0" i="0" sz="1400" u="none" cap="none" strike="noStrike">
              <a:solidFill>
                <a:schemeClr val="dk1"/>
              </a:solidFill>
              <a:latin typeface="Calibri"/>
              <a:ea typeface="Calibri"/>
              <a:cs typeface="Calibri"/>
              <a:sym typeface="Calibri"/>
            </a:endParaRPr>
          </a:p>
        </p:txBody>
      </p:sp>
      <p:sp>
        <p:nvSpPr>
          <p:cNvPr id="253" name="Google Shape;253;p8"/>
          <p:cNvSpPr/>
          <p:nvPr/>
        </p:nvSpPr>
        <p:spPr>
          <a:xfrm>
            <a:off x="1097280" y="2871216"/>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Workflows en Python, versionables en Git</a:t>
            </a:r>
            <a:endParaRPr b="0" i="0" sz="1100" u="none" cap="none" strike="noStrike">
              <a:solidFill>
                <a:schemeClr val="dk1"/>
              </a:solidFill>
              <a:latin typeface="Calibri"/>
              <a:ea typeface="Calibri"/>
              <a:cs typeface="Calibri"/>
              <a:sym typeface="Calibri"/>
            </a:endParaRPr>
          </a:p>
        </p:txBody>
      </p:sp>
      <p:sp>
        <p:nvSpPr>
          <p:cNvPr id="254" name="Google Shape;254;p8"/>
          <p:cNvSpPr/>
          <p:nvPr/>
        </p:nvSpPr>
        <p:spPr>
          <a:xfrm>
            <a:off x="548640" y="3218688"/>
            <a:ext cx="384048" cy="384048"/>
          </a:xfrm>
          <a:prstGeom prst="ellipse">
            <a:avLst/>
          </a:prstGeom>
          <a:solidFill>
            <a:srgbClr val="E2E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5" name="Google Shape;255;p8"/>
          <p:cNvPicPr preferRelativeResize="0"/>
          <p:nvPr/>
        </p:nvPicPr>
        <p:blipFill rotWithShape="1">
          <a:blip r:embed="rId5">
            <a:alphaModFix/>
          </a:blip>
          <a:srcRect b="0" l="0" r="0" t="0"/>
          <a:stretch/>
        </p:blipFill>
        <p:spPr>
          <a:xfrm>
            <a:off x="621792" y="3291840"/>
            <a:ext cx="237744" cy="237744"/>
          </a:xfrm>
          <a:prstGeom prst="rect">
            <a:avLst/>
          </a:prstGeom>
          <a:noFill/>
          <a:ln>
            <a:noFill/>
          </a:ln>
        </p:spPr>
      </p:pic>
      <p:sp>
        <p:nvSpPr>
          <p:cNvPr id="256" name="Google Shape;256;p8"/>
          <p:cNvSpPr/>
          <p:nvPr/>
        </p:nvSpPr>
        <p:spPr>
          <a:xfrm>
            <a:off x="1097280" y="3182112"/>
            <a:ext cx="3657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Dependencias claras</a:t>
            </a:r>
            <a:endParaRPr b="0" i="0" sz="1400" u="none" cap="none" strike="noStrike">
              <a:solidFill>
                <a:schemeClr val="dk1"/>
              </a:solidFill>
              <a:latin typeface="Calibri"/>
              <a:ea typeface="Calibri"/>
              <a:cs typeface="Calibri"/>
              <a:sym typeface="Calibri"/>
            </a:endParaRPr>
          </a:p>
        </p:txBody>
      </p:sp>
      <p:sp>
        <p:nvSpPr>
          <p:cNvPr id="257" name="Google Shape;257;p8"/>
          <p:cNvSpPr/>
          <p:nvPr/>
        </p:nvSpPr>
        <p:spPr>
          <a:xfrm>
            <a:off x="1097280" y="3419856"/>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Tarea A → B → C. Si A falla, B y C no corren</a:t>
            </a:r>
            <a:endParaRPr b="0" i="0" sz="1100" u="none" cap="none" strike="noStrike">
              <a:solidFill>
                <a:schemeClr val="dk1"/>
              </a:solidFill>
              <a:latin typeface="Calibri"/>
              <a:ea typeface="Calibri"/>
              <a:cs typeface="Calibri"/>
              <a:sym typeface="Calibri"/>
            </a:endParaRPr>
          </a:p>
        </p:txBody>
      </p:sp>
      <p:sp>
        <p:nvSpPr>
          <p:cNvPr id="258" name="Google Shape;258;p8"/>
          <p:cNvSpPr/>
          <p:nvPr/>
        </p:nvSpPr>
        <p:spPr>
          <a:xfrm>
            <a:off x="548640" y="3767328"/>
            <a:ext cx="384048" cy="384048"/>
          </a:xfrm>
          <a:prstGeom prst="ellipse">
            <a:avLst/>
          </a:prstGeom>
          <a:solidFill>
            <a:srgbClr val="E2E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9" name="Google Shape;259;p8"/>
          <p:cNvPicPr preferRelativeResize="0"/>
          <p:nvPr/>
        </p:nvPicPr>
        <p:blipFill rotWithShape="1">
          <a:blip r:embed="rId6">
            <a:alphaModFix/>
          </a:blip>
          <a:srcRect b="0" l="0" r="0" t="0"/>
          <a:stretch/>
        </p:blipFill>
        <p:spPr>
          <a:xfrm>
            <a:off x="621792" y="3840480"/>
            <a:ext cx="237744" cy="237744"/>
          </a:xfrm>
          <a:prstGeom prst="rect">
            <a:avLst/>
          </a:prstGeom>
          <a:noFill/>
          <a:ln>
            <a:noFill/>
          </a:ln>
        </p:spPr>
      </p:pic>
      <p:sp>
        <p:nvSpPr>
          <p:cNvPr id="260" name="Google Shape;260;p8"/>
          <p:cNvSpPr/>
          <p:nvPr/>
        </p:nvSpPr>
        <p:spPr>
          <a:xfrm>
            <a:off x="1097280" y="3730752"/>
            <a:ext cx="3657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Monitoreo integrado</a:t>
            </a:r>
            <a:endParaRPr b="0" i="0" sz="1400" u="none" cap="none" strike="noStrike">
              <a:solidFill>
                <a:schemeClr val="dk1"/>
              </a:solidFill>
              <a:latin typeface="Calibri"/>
              <a:ea typeface="Calibri"/>
              <a:cs typeface="Calibri"/>
              <a:sym typeface="Calibri"/>
            </a:endParaRPr>
          </a:p>
        </p:txBody>
      </p:sp>
      <p:sp>
        <p:nvSpPr>
          <p:cNvPr id="261" name="Google Shape;261;p8"/>
          <p:cNvSpPr/>
          <p:nvPr/>
        </p:nvSpPr>
        <p:spPr>
          <a:xfrm>
            <a:off x="1097280" y="3968496"/>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Estado de cada tarea, duración, logs, historial</a:t>
            </a:r>
            <a:endParaRPr b="0" i="0" sz="1100" u="none" cap="none" strike="noStrike">
              <a:solidFill>
                <a:schemeClr val="dk1"/>
              </a:solidFill>
              <a:latin typeface="Calibri"/>
              <a:ea typeface="Calibri"/>
              <a:cs typeface="Calibri"/>
              <a:sym typeface="Calibri"/>
            </a:endParaRPr>
          </a:p>
        </p:txBody>
      </p:sp>
      <p:sp>
        <p:nvSpPr>
          <p:cNvPr id="262" name="Google Shape;262;p8"/>
          <p:cNvSpPr/>
          <p:nvPr/>
        </p:nvSpPr>
        <p:spPr>
          <a:xfrm>
            <a:off x="548640" y="4315968"/>
            <a:ext cx="384048" cy="384048"/>
          </a:xfrm>
          <a:prstGeom prst="ellipse">
            <a:avLst/>
          </a:prstGeom>
          <a:solidFill>
            <a:srgbClr val="E2E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63" name="Google Shape;263;p8"/>
          <p:cNvPicPr preferRelativeResize="0"/>
          <p:nvPr/>
        </p:nvPicPr>
        <p:blipFill rotWithShape="1">
          <a:blip r:embed="rId7">
            <a:alphaModFix/>
          </a:blip>
          <a:srcRect b="0" l="0" r="0" t="0"/>
          <a:stretch/>
        </p:blipFill>
        <p:spPr>
          <a:xfrm>
            <a:off x="621792" y="4389120"/>
            <a:ext cx="237744" cy="237744"/>
          </a:xfrm>
          <a:prstGeom prst="rect">
            <a:avLst/>
          </a:prstGeom>
          <a:noFill/>
          <a:ln>
            <a:noFill/>
          </a:ln>
        </p:spPr>
      </p:pic>
      <p:sp>
        <p:nvSpPr>
          <p:cNvPr id="264" name="Google Shape;264;p8"/>
          <p:cNvSpPr/>
          <p:nvPr/>
        </p:nvSpPr>
        <p:spPr>
          <a:xfrm>
            <a:off x="1097280" y="4279392"/>
            <a:ext cx="3657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Reintentos y alertas</a:t>
            </a:r>
            <a:endParaRPr b="0" i="0" sz="1400" u="none" cap="none" strike="noStrike">
              <a:solidFill>
                <a:schemeClr val="dk1"/>
              </a:solidFill>
              <a:latin typeface="Calibri"/>
              <a:ea typeface="Calibri"/>
              <a:cs typeface="Calibri"/>
              <a:sym typeface="Calibri"/>
            </a:endParaRPr>
          </a:p>
        </p:txBody>
      </p:sp>
      <p:sp>
        <p:nvSpPr>
          <p:cNvPr id="265" name="Google Shape;265;p8"/>
          <p:cNvSpPr/>
          <p:nvPr/>
        </p:nvSpPr>
        <p:spPr>
          <a:xfrm>
            <a:off x="1097280" y="4517136"/>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Si falla, reintenta N veces y notifica</a:t>
            </a:r>
            <a:endParaRPr b="0" i="0" sz="1100" u="none" cap="none" strike="noStrike">
              <a:solidFill>
                <a:schemeClr val="dk1"/>
              </a:solidFill>
              <a:latin typeface="Calibri"/>
              <a:ea typeface="Calibri"/>
              <a:cs typeface="Calibri"/>
              <a:sym typeface="Calibri"/>
            </a:endParaRPr>
          </a:p>
        </p:txBody>
      </p:sp>
      <p:sp>
        <p:nvSpPr>
          <p:cNvPr id="266" name="Google Shape;266;p8"/>
          <p:cNvSpPr/>
          <p:nvPr/>
        </p:nvSpPr>
        <p:spPr>
          <a:xfrm>
            <a:off x="457200" y="4663440"/>
            <a:ext cx="82296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1000"/>
              <a:buFont typeface="Calibri"/>
              <a:buNone/>
            </a:pPr>
            <a:r>
              <a:rPr b="0" i="1" lang="en-US" sz="1000" u="none" cap="none" strike="noStrike">
                <a:solidFill>
                  <a:srgbClr val="999999"/>
                </a:solidFill>
                <a:latin typeface="Calibri"/>
                <a:ea typeface="Calibri"/>
                <a:cs typeface="Calibri"/>
                <a:sym typeface="Calibri"/>
              </a:rPr>
              <a:t>Creado por Airbnb (2014). Hoy es proyecto Apache Foundation. Usado por Spotify, Twitter, Lyft, PayPal...</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pic>
        <p:nvPicPr>
          <p:cNvPr descr="preencoded.png" id="272" name="Google Shape;272;p9"/>
          <p:cNvPicPr preferRelativeResize="0"/>
          <p:nvPr/>
        </p:nvPicPr>
        <p:blipFill rotWithShape="1">
          <a:blip r:embed="rId3">
            <a:alphaModFix/>
          </a:blip>
          <a:srcRect b="0" l="0" r="0" t="0"/>
          <a:stretch/>
        </p:blipFill>
        <p:spPr>
          <a:xfrm>
            <a:off x="274320" y="137160"/>
            <a:ext cx="1188720" cy="493776"/>
          </a:xfrm>
          <a:prstGeom prst="rect">
            <a:avLst/>
          </a:prstGeom>
          <a:noFill/>
          <a:ln>
            <a:noFill/>
          </a:ln>
        </p:spPr>
      </p:pic>
      <p:sp>
        <p:nvSpPr>
          <p:cNvPr id="273" name="Google Shape;273;p9"/>
          <p:cNvSpPr/>
          <p:nvPr/>
        </p:nvSpPr>
        <p:spPr>
          <a:xfrm>
            <a:off x="5029200" y="137160"/>
            <a:ext cx="4114800" cy="457200"/>
          </a:xfrm>
          <a:prstGeom prst="rect">
            <a:avLst/>
          </a:prstGeom>
          <a:solidFill>
            <a:srgbClr val="378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9"/>
          <p:cNvSpPr/>
          <p:nvPr/>
        </p:nvSpPr>
        <p:spPr>
          <a:xfrm>
            <a:off x="274320" y="777240"/>
            <a:ext cx="859536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2600"/>
              <a:buFont typeface="Arial Black"/>
              <a:buNone/>
            </a:pPr>
            <a:r>
              <a:rPr b="0" i="0" lang="en-US" sz="2600" u="none" cap="none" strike="noStrike">
                <a:solidFill>
                  <a:srgbClr val="2C3E50"/>
                </a:solidFill>
                <a:latin typeface="Arial Black"/>
                <a:ea typeface="Arial Black"/>
                <a:cs typeface="Arial Black"/>
                <a:sym typeface="Arial Black"/>
              </a:rPr>
              <a:t>Arquitectura Interna de Airflow</a:t>
            </a:r>
            <a:endParaRPr b="0" i="0" sz="2600" u="none" cap="none" strike="noStrike">
              <a:solidFill>
                <a:schemeClr val="dk1"/>
              </a:solidFill>
              <a:latin typeface="Calibri"/>
              <a:ea typeface="Calibri"/>
              <a:cs typeface="Calibri"/>
              <a:sym typeface="Calibri"/>
            </a:endParaRPr>
          </a:p>
        </p:txBody>
      </p:sp>
      <p:sp>
        <p:nvSpPr>
          <p:cNvPr id="275" name="Google Shape;275;p9"/>
          <p:cNvSpPr/>
          <p:nvPr/>
        </p:nvSpPr>
        <p:spPr>
          <a:xfrm>
            <a:off x="457200" y="1554480"/>
            <a:ext cx="2377440" cy="256032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9"/>
          <p:cNvSpPr/>
          <p:nvPr/>
        </p:nvSpPr>
        <p:spPr>
          <a:xfrm>
            <a:off x="457200" y="1554480"/>
            <a:ext cx="2377440" cy="731520"/>
          </a:xfrm>
          <a:prstGeom prst="rect">
            <a:avLst/>
          </a:prstGeom>
          <a:solidFill>
            <a:srgbClr val="1565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9"/>
          <p:cNvSpPr/>
          <p:nvPr/>
        </p:nvSpPr>
        <p:spPr>
          <a:xfrm>
            <a:off x="1325880" y="1645920"/>
            <a:ext cx="457200" cy="457200"/>
          </a:xfrm>
          <a:prstGeom prst="ellipse">
            <a:avLst/>
          </a:prstGeom>
          <a:solidFill>
            <a:srgbClr val="FFFFFF">
              <a:alpha val="7490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78" name="Google Shape;278;p9"/>
          <p:cNvPicPr preferRelativeResize="0"/>
          <p:nvPr/>
        </p:nvPicPr>
        <p:blipFill rotWithShape="1">
          <a:blip r:embed="rId4">
            <a:alphaModFix/>
          </a:blip>
          <a:srcRect b="0" l="0" r="0" t="0"/>
          <a:stretch/>
        </p:blipFill>
        <p:spPr>
          <a:xfrm>
            <a:off x="1399032" y="1719072"/>
            <a:ext cx="320040" cy="320040"/>
          </a:xfrm>
          <a:prstGeom prst="rect">
            <a:avLst/>
          </a:prstGeom>
          <a:noFill/>
          <a:ln>
            <a:noFill/>
          </a:ln>
        </p:spPr>
      </p:pic>
      <p:sp>
        <p:nvSpPr>
          <p:cNvPr id="279" name="Google Shape;279;p9"/>
          <p:cNvSpPr/>
          <p:nvPr/>
        </p:nvSpPr>
        <p:spPr>
          <a:xfrm>
            <a:off x="457200" y="2377440"/>
            <a:ext cx="237744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565C0"/>
              </a:buClr>
              <a:buSzPts val="1600"/>
              <a:buFont typeface="Arial Black"/>
              <a:buNone/>
            </a:pPr>
            <a:r>
              <a:rPr b="0" i="0" lang="en-US" sz="1600" u="none" cap="none" strike="noStrike">
                <a:solidFill>
                  <a:srgbClr val="1565C0"/>
                </a:solidFill>
                <a:latin typeface="Arial Black"/>
                <a:ea typeface="Arial Black"/>
                <a:cs typeface="Arial Black"/>
                <a:sym typeface="Arial Black"/>
              </a:rPr>
              <a:t>Scheduler</a:t>
            </a:r>
            <a:endParaRPr b="0" i="0" sz="1600" u="none" cap="none" strike="noStrike">
              <a:solidFill>
                <a:schemeClr val="dk1"/>
              </a:solidFill>
              <a:latin typeface="Calibri"/>
              <a:ea typeface="Calibri"/>
              <a:cs typeface="Calibri"/>
              <a:sym typeface="Calibri"/>
            </a:endParaRPr>
          </a:p>
        </p:txBody>
      </p:sp>
      <p:sp>
        <p:nvSpPr>
          <p:cNvPr id="280" name="Google Shape;280;p9"/>
          <p:cNvSpPr/>
          <p:nvPr/>
        </p:nvSpPr>
        <p:spPr>
          <a:xfrm>
            <a:off x="640080" y="2788920"/>
            <a:ext cx="2011680" cy="10972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El motor. Revisa qué tareas</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deben ejecutarse y</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en qué orden.</a:t>
            </a:r>
            <a:endParaRPr b="0" i="0" sz="1100" u="none" cap="none" strike="noStrike">
              <a:solidFill>
                <a:schemeClr val="dk1"/>
              </a:solidFill>
              <a:latin typeface="Calibri"/>
              <a:ea typeface="Calibri"/>
              <a:cs typeface="Calibri"/>
              <a:sym typeface="Calibri"/>
            </a:endParaRPr>
          </a:p>
        </p:txBody>
      </p:sp>
      <p:sp>
        <p:nvSpPr>
          <p:cNvPr id="281" name="Google Shape;281;p9"/>
          <p:cNvSpPr/>
          <p:nvPr/>
        </p:nvSpPr>
        <p:spPr>
          <a:xfrm>
            <a:off x="3200400" y="1554480"/>
            <a:ext cx="2377440" cy="256032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9"/>
          <p:cNvSpPr/>
          <p:nvPr/>
        </p:nvSpPr>
        <p:spPr>
          <a:xfrm>
            <a:off x="3200400" y="1554480"/>
            <a:ext cx="2377440" cy="731520"/>
          </a:xfrm>
          <a:prstGeom prst="rect">
            <a:avLst/>
          </a:prstGeom>
          <a:solidFill>
            <a:srgbClr val="0083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9"/>
          <p:cNvSpPr/>
          <p:nvPr/>
        </p:nvSpPr>
        <p:spPr>
          <a:xfrm>
            <a:off x="4069080" y="1645920"/>
            <a:ext cx="457200" cy="457200"/>
          </a:xfrm>
          <a:prstGeom prst="ellipse">
            <a:avLst/>
          </a:prstGeom>
          <a:solidFill>
            <a:srgbClr val="FFFFFF">
              <a:alpha val="7490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84" name="Google Shape;284;p9"/>
          <p:cNvPicPr preferRelativeResize="0"/>
          <p:nvPr/>
        </p:nvPicPr>
        <p:blipFill rotWithShape="1">
          <a:blip r:embed="rId5">
            <a:alphaModFix/>
          </a:blip>
          <a:srcRect b="0" l="0" r="0" t="0"/>
          <a:stretch/>
        </p:blipFill>
        <p:spPr>
          <a:xfrm>
            <a:off x="4142232" y="1719072"/>
            <a:ext cx="320040" cy="320040"/>
          </a:xfrm>
          <a:prstGeom prst="rect">
            <a:avLst/>
          </a:prstGeom>
          <a:noFill/>
          <a:ln>
            <a:noFill/>
          </a:ln>
        </p:spPr>
      </p:pic>
      <p:sp>
        <p:nvSpPr>
          <p:cNvPr id="285" name="Google Shape;285;p9"/>
          <p:cNvSpPr/>
          <p:nvPr/>
        </p:nvSpPr>
        <p:spPr>
          <a:xfrm>
            <a:off x="3200400" y="2377440"/>
            <a:ext cx="237744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838F"/>
              </a:buClr>
              <a:buSzPts val="1600"/>
              <a:buFont typeface="Arial Black"/>
              <a:buNone/>
            </a:pPr>
            <a:r>
              <a:rPr b="0" i="0" lang="en-US" sz="1600" u="none" cap="none" strike="noStrike">
                <a:solidFill>
                  <a:srgbClr val="00838F"/>
                </a:solidFill>
                <a:latin typeface="Arial Black"/>
                <a:ea typeface="Arial Black"/>
                <a:cs typeface="Arial Black"/>
                <a:sym typeface="Arial Black"/>
              </a:rPr>
              <a:t>Webserver</a:t>
            </a:r>
            <a:endParaRPr b="0" i="0" sz="1600" u="none" cap="none" strike="noStrike">
              <a:solidFill>
                <a:schemeClr val="dk1"/>
              </a:solidFill>
              <a:latin typeface="Calibri"/>
              <a:ea typeface="Calibri"/>
              <a:cs typeface="Calibri"/>
              <a:sym typeface="Calibri"/>
            </a:endParaRPr>
          </a:p>
        </p:txBody>
      </p:sp>
      <p:sp>
        <p:nvSpPr>
          <p:cNvPr id="286" name="Google Shape;286;p9"/>
          <p:cNvSpPr/>
          <p:nvPr/>
        </p:nvSpPr>
        <p:spPr>
          <a:xfrm>
            <a:off x="3383280" y="2788920"/>
            <a:ext cx="2011680" cy="10972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Interfaz visual. Muestra</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estado de cada DAG</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y tarea (verde/rojo).</a:t>
            </a:r>
            <a:endParaRPr b="0" i="0" sz="1100" u="none" cap="none" strike="noStrike">
              <a:solidFill>
                <a:schemeClr val="dk1"/>
              </a:solidFill>
              <a:latin typeface="Calibri"/>
              <a:ea typeface="Calibri"/>
              <a:cs typeface="Calibri"/>
              <a:sym typeface="Calibri"/>
            </a:endParaRPr>
          </a:p>
        </p:txBody>
      </p:sp>
      <p:sp>
        <p:nvSpPr>
          <p:cNvPr id="287" name="Google Shape;287;p9"/>
          <p:cNvSpPr/>
          <p:nvPr/>
        </p:nvSpPr>
        <p:spPr>
          <a:xfrm>
            <a:off x="5943600" y="1554480"/>
            <a:ext cx="2377440" cy="256032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9"/>
          <p:cNvSpPr/>
          <p:nvPr/>
        </p:nvSpPr>
        <p:spPr>
          <a:xfrm>
            <a:off x="5943600" y="1554480"/>
            <a:ext cx="2377440" cy="731520"/>
          </a:xfrm>
          <a:prstGeom prst="rect">
            <a:avLst/>
          </a:prstGeom>
          <a:solidFill>
            <a:srgbClr val="7E57C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9"/>
          <p:cNvSpPr/>
          <p:nvPr/>
        </p:nvSpPr>
        <p:spPr>
          <a:xfrm>
            <a:off x="6812280" y="1645920"/>
            <a:ext cx="457200" cy="457200"/>
          </a:xfrm>
          <a:prstGeom prst="ellipse">
            <a:avLst/>
          </a:prstGeom>
          <a:solidFill>
            <a:srgbClr val="FFFFFF">
              <a:alpha val="7490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0" name="Google Shape;290;p9"/>
          <p:cNvPicPr preferRelativeResize="0"/>
          <p:nvPr/>
        </p:nvPicPr>
        <p:blipFill rotWithShape="1">
          <a:blip r:embed="rId6">
            <a:alphaModFix/>
          </a:blip>
          <a:srcRect b="0" l="0" r="0" t="0"/>
          <a:stretch/>
        </p:blipFill>
        <p:spPr>
          <a:xfrm>
            <a:off x="6885432" y="1719072"/>
            <a:ext cx="320040" cy="320040"/>
          </a:xfrm>
          <a:prstGeom prst="rect">
            <a:avLst/>
          </a:prstGeom>
          <a:noFill/>
          <a:ln>
            <a:noFill/>
          </a:ln>
        </p:spPr>
      </p:pic>
      <p:sp>
        <p:nvSpPr>
          <p:cNvPr id="291" name="Google Shape;291;p9"/>
          <p:cNvSpPr/>
          <p:nvPr/>
        </p:nvSpPr>
        <p:spPr>
          <a:xfrm>
            <a:off x="5943600" y="2377440"/>
            <a:ext cx="237744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E57C2"/>
              </a:buClr>
              <a:buSzPts val="1600"/>
              <a:buFont typeface="Arial Black"/>
              <a:buNone/>
            </a:pPr>
            <a:r>
              <a:rPr b="0" i="0" lang="en-US" sz="1600" u="none" cap="none" strike="noStrike">
                <a:solidFill>
                  <a:srgbClr val="7E57C2"/>
                </a:solidFill>
                <a:latin typeface="Arial Black"/>
                <a:ea typeface="Arial Black"/>
                <a:cs typeface="Arial Black"/>
                <a:sym typeface="Arial Black"/>
              </a:rPr>
              <a:t>Database</a:t>
            </a:r>
            <a:endParaRPr b="0" i="0" sz="1600" u="none" cap="none" strike="noStrike">
              <a:solidFill>
                <a:schemeClr val="dk1"/>
              </a:solidFill>
              <a:latin typeface="Calibri"/>
              <a:ea typeface="Calibri"/>
              <a:cs typeface="Calibri"/>
              <a:sym typeface="Calibri"/>
            </a:endParaRPr>
          </a:p>
        </p:txBody>
      </p:sp>
      <p:sp>
        <p:nvSpPr>
          <p:cNvPr id="292" name="Google Shape;292;p9"/>
          <p:cNvSpPr/>
          <p:nvPr/>
        </p:nvSpPr>
        <p:spPr>
          <a:xfrm>
            <a:off x="6126480" y="2788920"/>
            <a:ext cx="2011680" cy="10972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Almacén interno. Registra</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ejecuciones, estados</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y XComs.</a:t>
            </a:r>
            <a:endParaRPr b="0" i="0" sz="1100" u="none" cap="none" strike="noStrike">
              <a:solidFill>
                <a:schemeClr val="dk1"/>
              </a:solidFill>
              <a:latin typeface="Calibri"/>
              <a:ea typeface="Calibri"/>
              <a:cs typeface="Calibri"/>
              <a:sym typeface="Calibri"/>
            </a:endParaRPr>
          </a:p>
        </p:txBody>
      </p:sp>
      <p:sp>
        <p:nvSpPr>
          <p:cNvPr id="293" name="Google Shape;293;p9"/>
          <p:cNvSpPr/>
          <p:nvPr/>
        </p:nvSpPr>
        <p:spPr>
          <a:xfrm>
            <a:off x="457200" y="4297680"/>
            <a:ext cx="7863840" cy="54864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9"/>
          <p:cNvSpPr/>
          <p:nvPr/>
        </p:nvSpPr>
        <p:spPr>
          <a:xfrm>
            <a:off x="457200" y="4297680"/>
            <a:ext cx="7863840"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200"/>
              <a:buFont typeface="Calibri"/>
              <a:buNone/>
            </a:pPr>
            <a:r>
              <a:rPr b="0" i="0" lang="en-US" sz="1200" u="none" cap="none" strike="noStrike">
                <a:solidFill>
                  <a:srgbClr val="2C3E50"/>
                </a:solidFill>
                <a:latin typeface="Calibri"/>
                <a:ea typeface="Calibri"/>
                <a:cs typeface="Calibri"/>
                <a:sym typeface="Calibri"/>
              </a:rPr>
              <a:t>~/airflow/dags/  —  Carpeta donde Airflow busca los archivos Python que definen los pipelines (DAGs)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pic>
        <p:nvPicPr>
          <p:cNvPr descr="preencoded.png" id="300" name="Google Shape;300;p10"/>
          <p:cNvPicPr preferRelativeResize="0"/>
          <p:nvPr/>
        </p:nvPicPr>
        <p:blipFill rotWithShape="1">
          <a:blip r:embed="rId3">
            <a:alphaModFix/>
          </a:blip>
          <a:srcRect b="0" l="0" r="0" t="0"/>
          <a:stretch/>
        </p:blipFill>
        <p:spPr>
          <a:xfrm>
            <a:off x="274320" y="137160"/>
            <a:ext cx="1188720" cy="493776"/>
          </a:xfrm>
          <a:prstGeom prst="rect">
            <a:avLst/>
          </a:prstGeom>
          <a:noFill/>
          <a:ln>
            <a:noFill/>
          </a:ln>
        </p:spPr>
      </p:pic>
      <p:sp>
        <p:nvSpPr>
          <p:cNvPr id="301" name="Google Shape;301;p10"/>
          <p:cNvSpPr/>
          <p:nvPr/>
        </p:nvSpPr>
        <p:spPr>
          <a:xfrm>
            <a:off x="5029200" y="137160"/>
            <a:ext cx="4114800" cy="457200"/>
          </a:xfrm>
          <a:prstGeom prst="rect">
            <a:avLst/>
          </a:prstGeom>
          <a:solidFill>
            <a:srgbClr val="378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10"/>
          <p:cNvSpPr/>
          <p:nvPr/>
        </p:nvSpPr>
        <p:spPr>
          <a:xfrm>
            <a:off x="274320" y="777240"/>
            <a:ext cx="859536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2600"/>
              <a:buFont typeface="Arial Black"/>
              <a:buNone/>
            </a:pPr>
            <a:r>
              <a:rPr b="0" i="0" lang="en-US" sz="2600" u="none" cap="none" strike="noStrike">
                <a:solidFill>
                  <a:srgbClr val="2C3E50"/>
                </a:solidFill>
                <a:latin typeface="Arial Black"/>
                <a:ea typeface="Arial Black"/>
                <a:cs typeface="Arial Black"/>
                <a:sym typeface="Arial Black"/>
              </a:rPr>
              <a:t>Vocabulario Airflow</a:t>
            </a:r>
            <a:endParaRPr b="0" i="0" sz="2600" u="none" cap="none" strike="noStrike">
              <a:solidFill>
                <a:schemeClr val="dk1"/>
              </a:solidFill>
              <a:latin typeface="Calibri"/>
              <a:ea typeface="Calibri"/>
              <a:cs typeface="Calibri"/>
              <a:sym typeface="Calibri"/>
            </a:endParaRPr>
          </a:p>
        </p:txBody>
      </p:sp>
      <p:sp>
        <p:nvSpPr>
          <p:cNvPr id="303" name="Google Shape;303;p10"/>
          <p:cNvSpPr/>
          <p:nvPr/>
        </p:nvSpPr>
        <p:spPr>
          <a:xfrm>
            <a:off x="274320" y="1554480"/>
            <a:ext cx="8595360" cy="566928"/>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0"/>
          <p:cNvSpPr/>
          <p:nvPr/>
        </p:nvSpPr>
        <p:spPr>
          <a:xfrm>
            <a:off x="274320" y="1554480"/>
            <a:ext cx="54864" cy="566928"/>
          </a:xfrm>
          <a:prstGeom prst="rect">
            <a:avLst/>
          </a:prstGeom>
          <a:solidFill>
            <a:srgbClr val="1565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0"/>
          <p:cNvSpPr/>
          <p:nvPr/>
        </p:nvSpPr>
        <p:spPr>
          <a:xfrm>
            <a:off x="548640" y="1554480"/>
            <a:ext cx="118872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565C0"/>
              </a:buClr>
              <a:buSzPts val="1600"/>
              <a:buFont typeface="Arial Black"/>
              <a:buNone/>
            </a:pPr>
            <a:r>
              <a:rPr b="0" i="0" lang="en-US" sz="1600" u="none" cap="none" strike="noStrike">
                <a:solidFill>
                  <a:srgbClr val="1565C0"/>
                </a:solidFill>
                <a:latin typeface="Arial Black"/>
                <a:ea typeface="Arial Black"/>
                <a:cs typeface="Arial Black"/>
                <a:sym typeface="Arial Black"/>
              </a:rPr>
              <a:t>DAG</a:t>
            </a:r>
            <a:endParaRPr b="0" i="0" sz="1600" u="none" cap="none" strike="noStrike">
              <a:solidFill>
                <a:schemeClr val="dk1"/>
              </a:solidFill>
              <a:latin typeface="Calibri"/>
              <a:ea typeface="Calibri"/>
              <a:cs typeface="Calibri"/>
              <a:sym typeface="Calibri"/>
            </a:endParaRPr>
          </a:p>
        </p:txBody>
      </p:sp>
      <p:sp>
        <p:nvSpPr>
          <p:cNvPr id="306" name="Google Shape;306;p10"/>
          <p:cNvSpPr/>
          <p:nvPr/>
        </p:nvSpPr>
        <p:spPr>
          <a:xfrm>
            <a:off x="1828800" y="1554480"/>
            <a:ext cx="685800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Directed Acyclic Graph. Pipeline completo definido en Python. Tareas con dependencias sin ciclos.</a:t>
            </a:r>
            <a:endParaRPr b="0" i="0" sz="1100" u="none" cap="none" strike="noStrike">
              <a:solidFill>
                <a:schemeClr val="dk1"/>
              </a:solidFill>
              <a:latin typeface="Calibri"/>
              <a:ea typeface="Calibri"/>
              <a:cs typeface="Calibri"/>
              <a:sym typeface="Calibri"/>
            </a:endParaRPr>
          </a:p>
        </p:txBody>
      </p:sp>
      <p:sp>
        <p:nvSpPr>
          <p:cNvPr id="307" name="Google Shape;307;p10"/>
          <p:cNvSpPr/>
          <p:nvPr/>
        </p:nvSpPr>
        <p:spPr>
          <a:xfrm>
            <a:off x="274320" y="2212848"/>
            <a:ext cx="8595360" cy="566928"/>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0"/>
          <p:cNvSpPr/>
          <p:nvPr/>
        </p:nvSpPr>
        <p:spPr>
          <a:xfrm>
            <a:off x="274320" y="2212848"/>
            <a:ext cx="54864" cy="566928"/>
          </a:xfrm>
          <a:prstGeom prst="rect">
            <a:avLst/>
          </a:prstGeom>
          <a:solidFill>
            <a:srgbClr val="0083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0"/>
          <p:cNvSpPr/>
          <p:nvPr/>
        </p:nvSpPr>
        <p:spPr>
          <a:xfrm>
            <a:off x="548640" y="2212848"/>
            <a:ext cx="118872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838F"/>
              </a:buClr>
              <a:buSzPts val="1600"/>
              <a:buFont typeface="Arial Black"/>
              <a:buNone/>
            </a:pPr>
            <a:r>
              <a:rPr b="0" i="0" lang="en-US" sz="1600" u="none" cap="none" strike="noStrike">
                <a:solidFill>
                  <a:srgbClr val="00838F"/>
                </a:solidFill>
                <a:latin typeface="Arial Black"/>
                <a:ea typeface="Arial Black"/>
                <a:cs typeface="Arial Black"/>
                <a:sym typeface="Arial Black"/>
              </a:rPr>
              <a:t>Operator</a:t>
            </a:r>
            <a:endParaRPr b="0" i="0" sz="1600" u="none" cap="none" strike="noStrike">
              <a:solidFill>
                <a:schemeClr val="dk1"/>
              </a:solidFill>
              <a:latin typeface="Calibri"/>
              <a:ea typeface="Calibri"/>
              <a:cs typeface="Calibri"/>
              <a:sym typeface="Calibri"/>
            </a:endParaRPr>
          </a:p>
        </p:txBody>
      </p:sp>
      <p:sp>
        <p:nvSpPr>
          <p:cNvPr id="310" name="Google Shape;310;p10"/>
          <p:cNvSpPr/>
          <p:nvPr/>
        </p:nvSpPr>
        <p:spPr>
          <a:xfrm>
            <a:off x="1828800" y="2212848"/>
            <a:ext cx="685800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Una tarea individual. PythonOperator ejecuta una función. Hay operators para Bash, SQL, HTTP, etc.</a:t>
            </a:r>
            <a:endParaRPr b="0" i="0" sz="1100" u="none" cap="none" strike="noStrike">
              <a:solidFill>
                <a:schemeClr val="dk1"/>
              </a:solidFill>
              <a:latin typeface="Calibri"/>
              <a:ea typeface="Calibri"/>
              <a:cs typeface="Calibri"/>
              <a:sym typeface="Calibri"/>
            </a:endParaRPr>
          </a:p>
        </p:txBody>
      </p:sp>
      <p:sp>
        <p:nvSpPr>
          <p:cNvPr id="311" name="Google Shape;311;p10"/>
          <p:cNvSpPr/>
          <p:nvPr/>
        </p:nvSpPr>
        <p:spPr>
          <a:xfrm>
            <a:off x="274320" y="2871216"/>
            <a:ext cx="8595360" cy="566928"/>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0"/>
          <p:cNvSpPr/>
          <p:nvPr/>
        </p:nvSpPr>
        <p:spPr>
          <a:xfrm>
            <a:off x="274320" y="2871216"/>
            <a:ext cx="54864" cy="566928"/>
          </a:xfrm>
          <a:prstGeom prst="rect">
            <a:avLst/>
          </a:prstGeom>
          <a:solidFill>
            <a:srgbClr val="7E57C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0"/>
          <p:cNvSpPr/>
          <p:nvPr/>
        </p:nvSpPr>
        <p:spPr>
          <a:xfrm>
            <a:off x="548640" y="2871216"/>
            <a:ext cx="118872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E57C2"/>
              </a:buClr>
              <a:buSzPts val="1600"/>
              <a:buFont typeface="Arial Black"/>
              <a:buNone/>
            </a:pPr>
            <a:r>
              <a:rPr b="0" i="0" lang="en-US" sz="1600" u="none" cap="none" strike="noStrike">
                <a:solidFill>
                  <a:srgbClr val="7E57C2"/>
                </a:solidFill>
                <a:latin typeface="Arial Black"/>
                <a:ea typeface="Arial Black"/>
                <a:cs typeface="Arial Black"/>
                <a:sym typeface="Arial Black"/>
              </a:rPr>
              <a:t>XCom</a:t>
            </a:r>
            <a:endParaRPr b="0" i="0" sz="1600" u="none" cap="none" strike="noStrike">
              <a:solidFill>
                <a:schemeClr val="dk1"/>
              </a:solidFill>
              <a:latin typeface="Calibri"/>
              <a:ea typeface="Calibri"/>
              <a:cs typeface="Calibri"/>
              <a:sym typeface="Calibri"/>
            </a:endParaRPr>
          </a:p>
        </p:txBody>
      </p:sp>
      <p:sp>
        <p:nvSpPr>
          <p:cNvPr id="314" name="Google Shape;314;p10"/>
          <p:cNvSpPr/>
          <p:nvPr/>
        </p:nvSpPr>
        <p:spPr>
          <a:xfrm>
            <a:off x="1828800" y="2871216"/>
            <a:ext cx="685800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Mecanismo para pasar datos entre tareas. Tarea 1 hace xcom_push, Tarea 2 hace xcom_pull.</a:t>
            </a:r>
            <a:endParaRPr b="0" i="0" sz="1100" u="none" cap="none" strike="noStrike">
              <a:solidFill>
                <a:schemeClr val="dk1"/>
              </a:solidFill>
              <a:latin typeface="Calibri"/>
              <a:ea typeface="Calibri"/>
              <a:cs typeface="Calibri"/>
              <a:sym typeface="Calibri"/>
            </a:endParaRPr>
          </a:p>
        </p:txBody>
      </p:sp>
      <p:sp>
        <p:nvSpPr>
          <p:cNvPr id="315" name="Google Shape;315;p10"/>
          <p:cNvSpPr/>
          <p:nvPr/>
        </p:nvSpPr>
        <p:spPr>
          <a:xfrm>
            <a:off x="274320" y="3529584"/>
            <a:ext cx="8595360" cy="566928"/>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10"/>
          <p:cNvSpPr/>
          <p:nvPr/>
        </p:nvSpPr>
        <p:spPr>
          <a:xfrm>
            <a:off x="274320" y="3529584"/>
            <a:ext cx="54864" cy="566928"/>
          </a:xfrm>
          <a:prstGeom prst="rect">
            <a:avLst/>
          </a:prstGeom>
          <a:solidFill>
            <a:srgbClr val="E74C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0"/>
          <p:cNvSpPr/>
          <p:nvPr/>
        </p:nvSpPr>
        <p:spPr>
          <a:xfrm>
            <a:off x="548640" y="3529584"/>
            <a:ext cx="118872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74C3C"/>
              </a:buClr>
              <a:buSzPts val="1600"/>
              <a:buFont typeface="Arial Black"/>
              <a:buNone/>
            </a:pPr>
            <a:r>
              <a:rPr b="0" i="0" lang="en-US" sz="1600" u="none" cap="none" strike="noStrike">
                <a:solidFill>
                  <a:srgbClr val="E74C3C"/>
                </a:solidFill>
                <a:latin typeface="Arial Black"/>
                <a:ea typeface="Arial Black"/>
                <a:cs typeface="Arial Black"/>
                <a:sym typeface="Arial Black"/>
              </a:rPr>
              <a:t>Task Instance</a:t>
            </a:r>
            <a:endParaRPr b="0" i="0" sz="1600" u="none" cap="none" strike="noStrike">
              <a:solidFill>
                <a:schemeClr val="dk1"/>
              </a:solidFill>
              <a:latin typeface="Calibri"/>
              <a:ea typeface="Calibri"/>
              <a:cs typeface="Calibri"/>
              <a:sym typeface="Calibri"/>
            </a:endParaRPr>
          </a:p>
        </p:txBody>
      </p:sp>
      <p:sp>
        <p:nvSpPr>
          <p:cNvPr id="318" name="Google Shape;318;p10"/>
          <p:cNvSpPr/>
          <p:nvPr/>
        </p:nvSpPr>
        <p:spPr>
          <a:xfrm>
            <a:off x="1828800" y="3529584"/>
            <a:ext cx="685800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Una ejecución específica de una tarea. Estado: success, failed, running.</a:t>
            </a:r>
            <a:endParaRPr b="0" i="0" sz="1100" u="none" cap="none" strike="noStrike">
              <a:solidFill>
                <a:schemeClr val="dk1"/>
              </a:solidFill>
              <a:latin typeface="Calibri"/>
              <a:ea typeface="Calibri"/>
              <a:cs typeface="Calibri"/>
              <a:sym typeface="Calibri"/>
            </a:endParaRPr>
          </a:p>
        </p:txBody>
      </p:sp>
      <p:sp>
        <p:nvSpPr>
          <p:cNvPr id="319" name="Google Shape;319;p10"/>
          <p:cNvSpPr/>
          <p:nvPr/>
        </p:nvSpPr>
        <p:spPr>
          <a:xfrm>
            <a:off x="274320" y="4187952"/>
            <a:ext cx="8595360" cy="566928"/>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0"/>
          <p:cNvSpPr/>
          <p:nvPr/>
        </p:nvSpPr>
        <p:spPr>
          <a:xfrm>
            <a:off x="274320" y="4187952"/>
            <a:ext cx="54864" cy="566928"/>
          </a:xfrm>
          <a:prstGeom prst="rect">
            <a:avLst/>
          </a:prstGeom>
          <a:solidFill>
            <a:srgbClr val="E9683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0"/>
          <p:cNvSpPr/>
          <p:nvPr/>
        </p:nvSpPr>
        <p:spPr>
          <a:xfrm>
            <a:off x="548640" y="4187952"/>
            <a:ext cx="118872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9683B"/>
              </a:buClr>
              <a:buSzPts val="1600"/>
              <a:buFont typeface="Arial Black"/>
              <a:buNone/>
            </a:pPr>
            <a:r>
              <a:rPr b="0" i="0" lang="en-US" sz="1600" u="none" cap="none" strike="noStrike">
                <a:solidFill>
                  <a:srgbClr val="E9683B"/>
                </a:solidFill>
                <a:latin typeface="Arial Black"/>
                <a:ea typeface="Arial Black"/>
                <a:cs typeface="Arial Black"/>
                <a:sym typeface="Arial Black"/>
              </a:rPr>
              <a:t>DAG Run</a:t>
            </a:r>
            <a:endParaRPr b="0" i="0" sz="1600" u="none" cap="none" strike="noStrike">
              <a:solidFill>
                <a:schemeClr val="dk1"/>
              </a:solidFill>
              <a:latin typeface="Calibri"/>
              <a:ea typeface="Calibri"/>
              <a:cs typeface="Calibri"/>
              <a:sym typeface="Calibri"/>
            </a:endParaRPr>
          </a:p>
        </p:txBody>
      </p:sp>
      <p:sp>
        <p:nvSpPr>
          <p:cNvPr id="322" name="Google Shape;322;p10"/>
          <p:cNvSpPr/>
          <p:nvPr/>
        </p:nvSpPr>
        <p:spPr>
          <a:xfrm>
            <a:off x="1828800" y="4187952"/>
            <a:ext cx="685800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Una ejecución completa del pipeline. Tiene run_id único. Puede ser manual o programada (cron).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E9"/>
        </a:solidFill>
      </p:bgPr>
    </p:bg>
    <p:spTree>
      <p:nvGrpSpPr>
        <p:cNvPr id="327" name="Shape 327"/>
        <p:cNvGrpSpPr/>
        <p:nvPr/>
      </p:nvGrpSpPr>
      <p:grpSpPr>
        <a:xfrm>
          <a:off x="0" y="0"/>
          <a:ext cx="0" cy="0"/>
          <a:chOff x="0" y="0"/>
          <a:chExt cx="0" cy="0"/>
        </a:xfrm>
      </p:grpSpPr>
      <p:pic>
        <p:nvPicPr>
          <p:cNvPr descr="preencoded.png" id="328" name="Google Shape;328;p11"/>
          <p:cNvPicPr preferRelativeResize="0"/>
          <p:nvPr/>
        </p:nvPicPr>
        <p:blipFill rotWithShape="1">
          <a:blip r:embed="rId3">
            <a:alphaModFix/>
          </a:blip>
          <a:srcRect b="0" l="0" r="0" t="0"/>
          <a:stretch/>
        </p:blipFill>
        <p:spPr>
          <a:xfrm>
            <a:off x="274320" y="228600"/>
            <a:ext cx="1463040" cy="612648"/>
          </a:xfrm>
          <a:prstGeom prst="rect">
            <a:avLst/>
          </a:prstGeom>
          <a:noFill/>
          <a:ln>
            <a:noFill/>
          </a:ln>
        </p:spPr>
      </p:pic>
      <p:sp>
        <p:nvSpPr>
          <p:cNvPr id="329" name="Google Shape;329;p11"/>
          <p:cNvSpPr/>
          <p:nvPr/>
        </p:nvSpPr>
        <p:spPr>
          <a:xfrm>
            <a:off x="274320" y="822960"/>
            <a:ext cx="85953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400"/>
              <a:buFont typeface="Arial Black"/>
              <a:buNone/>
            </a:pPr>
            <a:r>
              <a:rPr b="0" i="0" lang="en-US" sz="2400" u="none" cap="none" strike="noStrike">
                <a:solidFill>
                  <a:srgbClr val="FFFFFF"/>
                </a:solidFill>
                <a:latin typeface="Arial Black"/>
                <a:ea typeface="Arial Black"/>
                <a:cs typeface="Arial Black"/>
                <a:sym typeface="Arial Black"/>
              </a:rPr>
              <a:t>FinOps: ¿Por qué NO usamos Cloud Composer?</a:t>
            </a:r>
            <a:endParaRPr b="0" i="0" sz="2400" u="none" cap="none" strike="noStrike">
              <a:solidFill>
                <a:schemeClr val="dk1"/>
              </a:solidFill>
              <a:latin typeface="Calibri"/>
              <a:ea typeface="Calibri"/>
              <a:cs typeface="Calibri"/>
              <a:sym typeface="Calibri"/>
            </a:endParaRPr>
          </a:p>
        </p:txBody>
      </p:sp>
      <p:sp>
        <p:nvSpPr>
          <p:cNvPr id="330" name="Google Shape;330;p11"/>
          <p:cNvSpPr/>
          <p:nvPr/>
        </p:nvSpPr>
        <p:spPr>
          <a:xfrm>
            <a:off x="457200" y="1554480"/>
            <a:ext cx="3840480" cy="2286000"/>
          </a:xfrm>
          <a:prstGeom prst="rect">
            <a:avLst/>
          </a:prstGeom>
          <a:solidFill>
            <a:srgbClr val="E3F2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1"/>
          <p:cNvSpPr/>
          <p:nvPr/>
        </p:nvSpPr>
        <p:spPr>
          <a:xfrm>
            <a:off x="457200" y="1554480"/>
            <a:ext cx="3840480" cy="411480"/>
          </a:xfrm>
          <a:prstGeom prst="rect">
            <a:avLst/>
          </a:prstGeom>
          <a:solidFill>
            <a:srgbClr val="E3F2F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E74C3C"/>
              </a:buClr>
              <a:buSzPts val="1600"/>
              <a:buFont typeface="Arial Black"/>
              <a:buNone/>
            </a:pPr>
            <a:r>
              <a:rPr b="0" i="0" lang="en-US" sz="1600" u="none" cap="none" strike="noStrike">
                <a:solidFill>
                  <a:srgbClr val="E74C3C"/>
                </a:solidFill>
                <a:latin typeface="Arial Black"/>
                <a:ea typeface="Arial Black"/>
                <a:cs typeface="Arial Black"/>
                <a:sym typeface="Arial Black"/>
              </a:rPr>
              <a:t>Cloud Composer</a:t>
            </a:r>
            <a:endParaRPr b="0" i="0" sz="1600" u="none" cap="none" strike="noStrike">
              <a:solidFill>
                <a:schemeClr val="dk1"/>
              </a:solidFill>
              <a:latin typeface="Calibri"/>
              <a:ea typeface="Calibri"/>
              <a:cs typeface="Calibri"/>
              <a:sym typeface="Calibri"/>
            </a:endParaRPr>
          </a:p>
        </p:txBody>
      </p:sp>
      <p:sp>
        <p:nvSpPr>
          <p:cNvPr id="332" name="Google Shape;332;p11"/>
          <p:cNvSpPr/>
          <p:nvPr/>
        </p:nvSpPr>
        <p:spPr>
          <a:xfrm>
            <a:off x="457200" y="1920240"/>
            <a:ext cx="3840480" cy="228600"/>
          </a:xfrm>
          <a:prstGeom prst="rect">
            <a:avLst/>
          </a:prstGeom>
          <a:solidFill>
            <a:srgbClr val="E3F2F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99999"/>
              </a:buClr>
              <a:buSzPts val="1000"/>
              <a:buFont typeface="Calibri"/>
              <a:buNone/>
            </a:pPr>
            <a:r>
              <a:rPr b="0" i="0" lang="en-US" sz="1000" u="none" cap="none" strike="noStrike">
                <a:solidFill>
                  <a:srgbClr val="999999"/>
                </a:solidFill>
                <a:latin typeface="Calibri"/>
                <a:ea typeface="Calibri"/>
                <a:cs typeface="Calibri"/>
                <a:sym typeface="Calibri"/>
              </a:rPr>
              <a:t>(Airflow gestionado por GCP)</a:t>
            </a:r>
            <a:endParaRPr b="0" i="0" sz="1000" u="none" cap="none" strike="noStrike">
              <a:solidFill>
                <a:schemeClr val="dk1"/>
              </a:solidFill>
              <a:latin typeface="Calibri"/>
              <a:ea typeface="Calibri"/>
              <a:cs typeface="Calibri"/>
              <a:sym typeface="Calibri"/>
            </a:endParaRPr>
          </a:p>
        </p:txBody>
      </p:sp>
      <p:sp>
        <p:nvSpPr>
          <p:cNvPr id="333" name="Google Shape;333;p11"/>
          <p:cNvSpPr/>
          <p:nvPr/>
        </p:nvSpPr>
        <p:spPr>
          <a:xfrm>
            <a:off x="457200" y="2286000"/>
            <a:ext cx="3840480" cy="731520"/>
          </a:xfrm>
          <a:prstGeom prst="rect">
            <a:avLst/>
          </a:prstGeom>
          <a:solidFill>
            <a:srgbClr val="E3F2F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E74C3C"/>
              </a:buClr>
              <a:buSzPts val="2800"/>
              <a:buFont typeface="Arial Black"/>
              <a:buNone/>
            </a:pPr>
            <a:r>
              <a:rPr b="0" i="0" lang="en-US" sz="2800" u="none" cap="none" strike="noStrike">
                <a:solidFill>
                  <a:srgbClr val="E74C3C"/>
                </a:solidFill>
                <a:latin typeface="Arial Black"/>
                <a:ea typeface="Arial Black"/>
                <a:cs typeface="Arial Black"/>
                <a:sym typeface="Arial Black"/>
              </a:rPr>
              <a:t>~$300-400</a:t>
            </a:r>
            <a:endParaRPr b="0" i="0" sz="2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E74C3C"/>
              </a:buClr>
              <a:buSzPts val="2800"/>
              <a:buFont typeface="Arial Black"/>
              <a:buNone/>
            </a:pPr>
            <a:r>
              <a:rPr b="0" i="0" lang="en-US" sz="2800" u="none" cap="none" strike="noStrike">
                <a:solidFill>
                  <a:srgbClr val="E74C3C"/>
                </a:solidFill>
                <a:latin typeface="Arial Black"/>
                <a:ea typeface="Arial Black"/>
                <a:cs typeface="Arial Black"/>
                <a:sym typeface="Arial Black"/>
              </a:rPr>
              <a:t>USD/mes</a:t>
            </a:r>
            <a:endParaRPr b="0" i="0" sz="2800" u="none" cap="none" strike="noStrike">
              <a:solidFill>
                <a:schemeClr val="dk1"/>
              </a:solidFill>
              <a:latin typeface="Calibri"/>
              <a:ea typeface="Calibri"/>
              <a:cs typeface="Calibri"/>
              <a:sym typeface="Calibri"/>
            </a:endParaRPr>
          </a:p>
        </p:txBody>
      </p:sp>
      <p:sp>
        <p:nvSpPr>
          <p:cNvPr id="334" name="Google Shape;334;p11"/>
          <p:cNvSpPr/>
          <p:nvPr/>
        </p:nvSpPr>
        <p:spPr>
          <a:xfrm>
            <a:off x="457200" y="3108960"/>
            <a:ext cx="3840480" cy="548640"/>
          </a:xfrm>
          <a:prstGeom prst="rect">
            <a:avLst/>
          </a:prstGeom>
          <a:solidFill>
            <a:srgbClr val="E3F2F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Cluster GKE + Cloud SQL</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Cobra 24/7 aunque no lo uses</a:t>
            </a:r>
            <a:endParaRPr b="0" i="0" sz="1100" u="none" cap="none" strike="noStrike">
              <a:solidFill>
                <a:schemeClr val="dk1"/>
              </a:solidFill>
              <a:latin typeface="Calibri"/>
              <a:ea typeface="Calibri"/>
              <a:cs typeface="Calibri"/>
              <a:sym typeface="Calibri"/>
            </a:endParaRPr>
          </a:p>
        </p:txBody>
      </p:sp>
      <p:sp>
        <p:nvSpPr>
          <p:cNvPr id="335" name="Google Shape;335;p11"/>
          <p:cNvSpPr/>
          <p:nvPr/>
        </p:nvSpPr>
        <p:spPr>
          <a:xfrm>
            <a:off x="4846320" y="1554480"/>
            <a:ext cx="3840480" cy="2286000"/>
          </a:xfrm>
          <a:prstGeom prst="rect">
            <a:avLst/>
          </a:prstGeom>
          <a:solidFill>
            <a:srgbClr val="E3F2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11"/>
          <p:cNvSpPr/>
          <p:nvPr/>
        </p:nvSpPr>
        <p:spPr>
          <a:xfrm>
            <a:off x="4846320" y="1554480"/>
            <a:ext cx="3840480" cy="411480"/>
          </a:xfrm>
          <a:prstGeom prst="rect">
            <a:avLst/>
          </a:prstGeom>
          <a:solidFill>
            <a:srgbClr val="E3F2F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E2EA61"/>
              </a:buClr>
              <a:buSzPts val="1600"/>
              <a:buFont typeface="Arial Black"/>
              <a:buNone/>
            </a:pPr>
            <a:r>
              <a:rPr b="0" i="0" lang="en-US" sz="1600" u="none" cap="none" strike="noStrike">
                <a:solidFill>
                  <a:schemeClr val="accent1"/>
                </a:solidFill>
                <a:latin typeface="Arial Black"/>
                <a:ea typeface="Arial Black"/>
                <a:cs typeface="Arial Black"/>
                <a:sym typeface="Arial Black"/>
              </a:rPr>
              <a:t>Airflow en Cloud Shell</a:t>
            </a:r>
            <a:endParaRPr b="0" i="0" sz="1600" u="none" cap="none" strike="noStrike">
              <a:solidFill>
                <a:schemeClr val="accent1"/>
              </a:solidFill>
              <a:latin typeface="Calibri"/>
              <a:ea typeface="Calibri"/>
              <a:cs typeface="Calibri"/>
              <a:sym typeface="Calibri"/>
            </a:endParaRPr>
          </a:p>
        </p:txBody>
      </p:sp>
      <p:sp>
        <p:nvSpPr>
          <p:cNvPr id="337" name="Google Shape;337;p11"/>
          <p:cNvSpPr/>
          <p:nvPr/>
        </p:nvSpPr>
        <p:spPr>
          <a:xfrm>
            <a:off x="4846320" y="2286000"/>
            <a:ext cx="3840480" cy="731520"/>
          </a:xfrm>
          <a:prstGeom prst="rect">
            <a:avLst/>
          </a:prstGeom>
          <a:solidFill>
            <a:srgbClr val="E3F2FD"/>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E2EA61"/>
              </a:buClr>
              <a:buSzPts val="2800"/>
              <a:buFont typeface="Arial Black"/>
              <a:buNone/>
            </a:pPr>
            <a:r>
              <a:rPr b="0" i="0" lang="en-US" sz="2800" u="none" cap="none" strike="noStrike">
                <a:solidFill>
                  <a:schemeClr val="accent1"/>
                </a:solidFill>
                <a:latin typeface="Arial Black"/>
                <a:ea typeface="Arial Black"/>
                <a:cs typeface="Arial Black"/>
                <a:sym typeface="Arial Black"/>
              </a:rPr>
              <a:t>$0</a:t>
            </a:r>
            <a:endParaRPr b="0" i="0" sz="2800" u="none" cap="none" strike="noStrike">
              <a:solidFill>
                <a:schemeClr val="accent1"/>
              </a:solidFill>
              <a:latin typeface="Calibri"/>
              <a:ea typeface="Calibri"/>
              <a:cs typeface="Calibri"/>
              <a:sym typeface="Calibri"/>
            </a:endParaRPr>
          </a:p>
          <a:p>
            <a:pPr indent="0" lvl="0" marL="0" marR="0" rtl="0" algn="ctr">
              <a:lnSpc>
                <a:spcPct val="100000"/>
              </a:lnSpc>
              <a:spcBef>
                <a:spcPts val="0"/>
              </a:spcBef>
              <a:spcAft>
                <a:spcPts val="0"/>
              </a:spcAft>
              <a:buClr>
                <a:srgbClr val="E2EA61"/>
              </a:buClr>
              <a:buSzPts val="2800"/>
              <a:buFont typeface="Arial Black"/>
              <a:buNone/>
            </a:pPr>
            <a:r>
              <a:rPr b="0" i="0" lang="en-US" sz="2800" u="none" cap="none" strike="noStrike">
                <a:solidFill>
                  <a:schemeClr val="accent1"/>
                </a:solidFill>
                <a:latin typeface="Arial Black"/>
                <a:ea typeface="Arial Black"/>
                <a:cs typeface="Arial Black"/>
                <a:sym typeface="Arial Black"/>
              </a:rPr>
              <a:t>USD/mes</a:t>
            </a:r>
            <a:endParaRPr b="0" i="0" sz="2800" u="none" cap="none" strike="noStrike">
              <a:solidFill>
                <a:schemeClr val="accent1"/>
              </a:solidFill>
              <a:latin typeface="Calibri"/>
              <a:ea typeface="Calibri"/>
              <a:cs typeface="Calibri"/>
              <a:sym typeface="Calibri"/>
            </a:endParaRPr>
          </a:p>
        </p:txBody>
      </p:sp>
      <p:sp>
        <p:nvSpPr>
          <p:cNvPr id="338" name="Google Shape;338;p11"/>
          <p:cNvSpPr/>
          <p:nvPr/>
        </p:nvSpPr>
        <p:spPr>
          <a:xfrm>
            <a:off x="4846320" y="3108960"/>
            <a:ext cx="3840480" cy="548640"/>
          </a:xfrm>
          <a:prstGeom prst="rect">
            <a:avLst/>
          </a:prstGeom>
          <a:solidFill>
            <a:srgbClr val="E3F2F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Cloud Shell gratuito + SQLite</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Solo consume cuando lo ejecutas</a:t>
            </a:r>
            <a:endParaRPr b="0" i="0" sz="1100" u="none" cap="none" strike="noStrike">
              <a:solidFill>
                <a:schemeClr val="dk1"/>
              </a:solidFill>
              <a:latin typeface="Calibri"/>
              <a:ea typeface="Calibri"/>
              <a:cs typeface="Calibri"/>
              <a:sym typeface="Calibri"/>
            </a:endParaRPr>
          </a:p>
        </p:txBody>
      </p:sp>
      <p:sp>
        <p:nvSpPr>
          <p:cNvPr id="339" name="Google Shape;339;p11"/>
          <p:cNvSpPr/>
          <p:nvPr/>
        </p:nvSpPr>
        <p:spPr>
          <a:xfrm>
            <a:off x="274320" y="4114800"/>
            <a:ext cx="859536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2EA61"/>
              </a:buClr>
              <a:buSzPts val="1100"/>
              <a:buFont typeface="Calibri"/>
              <a:buNone/>
            </a:pPr>
            <a:r>
              <a:rPr b="0" i="0" lang="en-US" sz="1100" u="none" cap="none" strike="noStrike">
                <a:solidFill>
                  <a:srgbClr val="E2EA61"/>
                </a:solidFill>
                <a:latin typeface="Calibri"/>
                <a:ea typeface="Calibri"/>
                <a:cs typeface="Calibri"/>
                <a:sym typeface="Calibri"/>
              </a:rPr>
              <a:t>Equivalencias:  GCP: Composer (~$350)  |  AWS: MWAA (~$300)  |  Azure: Data Factory (pago por actividad)</a:t>
            </a:r>
            <a:endParaRPr b="0" i="0" sz="1100" u="none" cap="none" strike="noStrike">
              <a:solidFill>
                <a:schemeClr val="dk1"/>
              </a:solidFill>
              <a:latin typeface="Calibri"/>
              <a:ea typeface="Calibri"/>
              <a:cs typeface="Calibri"/>
              <a:sym typeface="Calibri"/>
            </a:endParaRPr>
          </a:p>
        </p:txBody>
      </p:sp>
      <p:sp>
        <p:nvSpPr>
          <p:cNvPr id="340" name="Google Shape;340;p11"/>
          <p:cNvSpPr/>
          <p:nvPr/>
        </p:nvSpPr>
        <p:spPr>
          <a:xfrm>
            <a:off x="274320" y="4572000"/>
            <a:ext cx="859536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1000"/>
              <a:buFont typeface="Calibri"/>
              <a:buNone/>
            </a:pPr>
            <a:r>
              <a:rPr b="0" i="1" lang="en-US" sz="1000" u="none" cap="none" strike="noStrike">
                <a:solidFill>
                  <a:srgbClr val="999999"/>
                </a:solidFill>
                <a:latin typeface="Calibri"/>
                <a:ea typeface="Calibri"/>
                <a:cs typeface="Calibri"/>
                <a:sym typeface="Calibri"/>
              </a:rPr>
              <a:t>Composer se justifica en producción empresarial con SLA. Para labs, POCs y startups, Airflow standalone es suficiente.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pic>
        <p:nvPicPr>
          <p:cNvPr descr="preencoded.png" id="346" name="Google Shape;346;p12"/>
          <p:cNvPicPr preferRelativeResize="0"/>
          <p:nvPr/>
        </p:nvPicPr>
        <p:blipFill rotWithShape="1">
          <a:blip r:embed="rId3">
            <a:alphaModFix/>
          </a:blip>
          <a:srcRect b="0" l="0" r="0" t="0"/>
          <a:stretch/>
        </p:blipFill>
        <p:spPr>
          <a:xfrm>
            <a:off x="274320" y="137160"/>
            <a:ext cx="1188720" cy="493776"/>
          </a:xfrm>
          <a:prstGeom prst="rect">
            <a:avLst/>
          </a:prstGeom>
          <a:noFill/>
          <a:ln>
            <a:noFill/>
          </a:ln>
        </p:spPr>
      </p:pic>
      <p:sp>
        <p:nvSpPr>
          <p:cNvPr id="347" name="Google Shape;347;p12"/>
          <p:cNvSpPr/>
          <p:nvPr/>
        </p:nvSpPr>
        <p:spPr>
          <a:xfrm>
            <a:off x="5029200" y="137160"/>
            <a:ext cx="4114800" cy="457200"/>
          </a:xfrm>
          <a:prstGeom prst="rect">
            <a:avLst/>
          </a:prstGeom>
          <a:solidFill>
            <a:srgbClr val="378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2"/>
          <p:cNvSpPr/>
          <p:nvPr/>
        </p:nvSpPr>
        <p:spPr>
          <a:xfrm>
            <a:off x="274320" y="777240"/>
            <a:ext cx="859536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2600"/>
              <a:buFont typeface="Arial Black"/>
              <a:buNone/>
            </a:pPr>
            <a:r>
              <a:rPr b="0" i="0" lang="en-US" sz="2600" u="none" cap="none" strike="noStrike">
                <a:solidFill>
                  <a:srgbClr val="2C3E50"/>
                </a:solidFill>
                <a:latin typeface="Arial Black"/>
                <a:ea typeface="Arial Black"/>
                <a:cs typeface="Arial Black"/>
                <a:sym typeface="Arial Black"/>
              </a:rPr>
              <a:t>Resiliencia MLOps: Calidad vs. Drift</a:t>
            </a:r>
            <a:endParaRPr b="0" i="0" sz="2600" u="none" cap="none" strike="noStrike">
              <a:solidFill>
                <a:schemeClr val="dk1"/>
              </a:solidFill>
              <a:latin typeface="Calibri"/>
              <a:ea typeface="Calibri"/>
              <a:cs typeface="Calibri"/>
              <a:sym typeface="Calibri"/>
            </a:endParaRPr>
          </a:p>
        </p:txBody>
      </p:sp>
      <p:sp>
        <p:nvSpPr>
          <p:cNvPr id="349" name="Google Shape;349;p12"/>
          <p:cNvSpPr/>
          <p:nvPr/>
        </p:nvSpPr>
        <p:spPr>
          <a:xfrm>
            <a:off x="274320" y="1554480"/>
            <a:ext cx="4114800" cy="310896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2"/>
          <p:cNvSpPr/>
          <p:nvPr/>
        </p:nvSpPr>
        <p:spPr>
          <a:xfrm>
            <a:off x="274320" y="1554480"/>
            <a:ext cx="4114800" cy="502920"/>
          </a:xfrm>
          <a:prstGeom prst="rect">
            <a:avLst/>
          </a:prstGeom>
          <a:solidFill>
            <a:srgbClr val="E9683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2"/>
          <p:cNvSpPr/>
          <p:nvPr/>
        </p:nvSpPr>
        <p:spPr>
          <a:xfrm>
            <a:off x="274320" y="1554480"/>
            <a:ext cx="4114800" cy="5029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Arial Black"/>
              <a:buNone/>
            </a:pPr>
            <a:r>
              <a:rPr b="0" i="0" lang="en-US" sz="1400" u="none" cap="none" strike="noStrike">
                <a:solidFill>
                  <a:srgbClr val="FFFFFF"/>
                </a:solidFill>
                <a:latin typeface="Arial Black"/>
                <a:ea typeface="Arial Black"/>
                <a:cs typeface="Arial Black"/>
                <a:sym typeface="Arial Black"/>
              </a:rPr>
              <a:t>Error de Calidad de Datos</a:t>
            </a:r>
            <a:endParaRPr b="0" i="0" sz="1400" u="none" cap="none" strike="noStrike">
              <a:solidFill>
                <a:schemeClr val="dk1"/>
              </a:solidFill>
              <a:latin typeface="Calibri"/>
              <a:ea typeface="Calibri"/>
              <a:cs typeface="Calibri"/>
              <a:sym typeface="Calibri"/>
            </a:endParaRPr>
          </a:p>
        </p:txBody>
      </p:sp>
      <p:sp>
        <p:nvSpPr>
          <p:cNvPr id="352" name="Google Shape;352;p12"/>
          <p:cNvSpPr/>
          <p:nvPr/>
        </p:nvSpPr>
        <p:spPr>
          <a:xfrm>
            <a:off x="457200" y="2194560"/>
            <a:ext cx="3749040" cy="2286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200"/>
              <a:buFont typeface="Calibri"/>
              <a:buNone/>
            </a:pPr>
            <a:r>
              <a:rPr b="1" i="0" lang="en-US" sz="1200" u="none" cap="none" strike="noStrike">
                <a:solidFill>
                  <a:srgbClr val="2C3E50"/>
                </a:solidFill>
                <a:latin typeface="Calibri"/>
                <a:ea typeface="Calibri"/>
                <a:cs typeface="Calibri"/>
                <a:sym typeface="Calibri"/>
              </a:rPr>
              <a:t>Registros individuales mal formatiados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Ej: tenure=-5, contract="Anual"</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9683B"/>
              </a:buClr>
              <a:buSzPts val="1200"/>
              <a:buFont typeface="Calibri"/>
              <a:buNone/>
            </a:pPr>
            <a:r>
              <a:rPr b="1" i="0" lang="en-US" sz="1200" u="none" cap="none" strike="noStrike">
                <a:solidFill>
                  <a:srgbClr val="E9683B"/>
                </a:solidFill>
                <a:latin typeface="Calibri"/>
                <a:ea typeface="Calibri"/>
                <a:cs typeface="Calibri"/>
                <a:sym typeface="Calibri"/>
              </a:rPr>
              <a:t>Patrón: Dead Letter Queue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Aislar en cuarentena para investigar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Acción: Corregir registros específicos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1" i="0" lang="en-US" sz="1100" u="none" cap="none" strike="noStrike">
                <a:solidFill>
                  <a:srgbClr val="2C3E50"/>
                </a:solidFill>
                <a:latin typeface="Calibri"/>
                <a:ea typeface="Calibri"/>
                <a:cs typeface="Calibri"/>
                <a:sym typeface="Calibri"/>
              </a:rPr>
              <a:t>El pipeline SIGUE corriendo</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99999"/>
              </a:buClr>
              <a:buSzPts val="1000"/>
              <a:buFont typeface="Calibri"/>
              <a:buNone/>
            </a:pPr>
            <a:r>
              <a:t/>
            </a:r>
            <a:endParaRPr b="0" i="0" sz="1200" u="none" cap="none" strike="noStrike">
              <a:solidFill>
                <a:schemeClr val="dk1"/>
              </a:solidFill>
              <a:latin typeface="Calibri"/>
              <a:ea typeface="Calibri"/>
              <a:cs typeface="Calibri"/>
              <a:sym typeface="Calibri"/>
            </a:endParaRPr>
          </a:p>
        </p:txBody>
      </p:sp>
      <p:sp>
        <p:nvSpPr>
          <p:cNvPr id="353" name="Google Shape;353;p12"/>
          <p:cNvSpPr/>
          <p:nvPr/>
        </p:nvSpPr>
        <p:spPr>
          <a:xfrm>
            <a:off x="4754880" y="1554480"/>
            <a:ext cx="4114800" cy="310896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12"/>
          <p:cNvSpPr/>
          <p:nvPr/>
        </p:nvSpPr>
        <p:spPr>
          <a:xfrm>
            <a:off x="4754880" y="1554480"/>
            <a:ext cx="4114800" cy="502920"/>
          </a:xfrm>
          <a:prstGeom prst="rect">
            <a:avLst/>
          </a:prstGeom>
          <a:solidFill>
            <a:srgbClr val="E74C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2"/>
          <p:cNvSpPr/>
          <p:nvPr/>
        </p:nvSpPr>
        <p:spPr>
          <a:xfrm>
            <a:off x="4754880" y="1554480"/>
            <a:ext cx="4114800" cy="5029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Arial Black"/>
              <a:buNone/>
            </a:pPr>
            <a:r>
              <a:rPr b="0" i="0" lang="en-US" sz="1400" u="none" cap="none" strike="noStrike">
                <a:solidFill>
                  <a:srgbClr val="FFFFFF"/>
                </a:solidFill>
                <a:latin typeface="Arial Black"/>
                <a:ea typeface="Arial Black"/>
                <a:cs typeface="Arial Black"/>
                <a:sym typeface="Arial Black"/>
              </a:rPr>
              <a:t>Data Drift (Deriva Poblacional)</a:t>
            </a:r>
            <a:endParaRPr b="0" i="0" sz="1400" u="none" cap="none" strike="noStrike">
              <a:solidFill>
                <a:schemeClr val="dk1"/>
              </a:solidFill>
              <a:latin typeface="Calibri"/>
              <a:ea typeface="Calibri"/>
              <a:cs typeface="Calibri"/>
              <a:sym typeface="Calibri"/>
            </a:endParaRPr>
          </a:p>
        </p:txBody>
      </p:sp>
      <p:sp>
        <p:nvSpPr>
          <p:cNvPr id="356" name="Google Shape;356;p12"/>
          <p:cNvSpPr/>
          <p:nvPr/>
        </p:nvSpPr>
        <p:spPr>
          <a:xfrm>
            <a:off x="4937760" y="2194560"/>
            <a:ext cx="3749040" cy="2286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200"/>
              <a:buFont typeface="Calibri"/>
              <a:buNone/>
            </a:pPr>
            <a:r>
              <a:rPr b="1" i="0" lang="en-US" sz="1200" u="none" cap="none" strike="noStrike">
                <a:solidFill>
                  <a:srgbClr val="2C3E50"/>
                </a:solidFill>
                <a:latin typeface="Calibri"/>
                <a:ea typeface="Calibri"/>
                <a:cs typeface="Calibri"/>
                <a:sym typeface="Calibri"/>
              </a:rPr>
              <a:t>La distribución completa cambió</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Ej: 75% de registros con valores inválidos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74C3C"/>
              </a:buClr>
              <a:buSzPts val="1200"/>
              <a:buFont typeface="Calibri"/>
              <a:buNone/>
            </a:pPr>
            <a:r>
              <a:rPr b="1" i="0" lang="en-US" sz="1200" u="none" cap="none" strike="noStrike">
                <a:solidFill>
                  <a:srgbClr val="E74C3C"/>
                </a:solidFill>
                <a:latin typeface="Calibri"/>
                <a:ea typeface="Calibri"/>
                <a:cs typeface="Calibri"/>
                <a:sym typeface="Calibri"/>
              </a:rPr>
              <a:t>Patrón: Alerta + Detener pipeline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Algo cambió en la fuente de datos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Acción: Investigar fuente + posible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100"/>
              <a:buFont typeface="Calibri"/>
              <a:buNone/>
            </a:pPr>
            <a:r>
              <a:rPr b="1" i="0" lang="en-US" sz="1100" u="none" cap="none" strike="noStrike">
                <a:solidFill>
                  <a:srgbClr val="2C3E50"/>
                </a:solidFill>
                <a:latin typeface="Calibri"/>
                <a:ea typeface="Calibri"/>
                <a:cs typeface="Calibri"/>
                <a:sym typeface="Calibri"/>
              </a:rPr>
              <a:t>REENTRENAMIENTO del modelo</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99999"/>
              </a:buClr>
              <a:buSzPts val="1000"/>
              <a:buFont typeface="Calibri"/>
              <a:buNone/>
            </a:pPr>
            <a:r>
              <a:t/>
            </a:r>
            <a:endParaRPr b="0" i="0" sz="1200" u="none" cap="none" strike="noStrike">
              <a:solidFill>
                <a:schemeClr val="dk1"/>
              </a:solidFill>
              <a:latin typeface="Calibri"/>
              <a:ea typeface="Calibri"/>
              <a:cs typeface="Calibri"/>
              <a:sym typeface="Calibri"/>
            </a:endParaRPr>
          </a:p>
        </p:txBody>
      </p:sp>
      <p:sp>
        <p:nvSpPr>
          <p:cNvPr id="357" name="Google Shape;357;p12"/>
          <p:cNvSpPr/>
          <p:nvPr/>
        </p:nvSpPr>
        <p:spPr>
          <a:xfrm>
            <a:off x="274320" y="4754880"/>
            <a:ext cx="859536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54E9"/>
              </a:buClr>
              <a:buSzPts val="1000"/>
              <a:buFont typeface="Calibri"/>
              <a:buNone/>
            </a:pPr>
            <a:r>
              <a:rPr b="0" i="1" lang="en-US" sz="1000" u="none" cap="none" strike="noStrike">
                <a:solidFill>
                  <a:srgbClr val="5454E9"/>
                </a:solidFill>
                <a:latin typeface="Calibri"/>
                <a:ea typeface="Calibri"/>
                <a:cs typeface="Calibri"/>
                <a:sym typeface="Calibri"/>
              </a:rPr>
              <a:t>El umbral (30% en nuestro lab) es una decisión de negocio. Cada empresa define cuánto ruido tolera.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2" name="Shape 362"/>
        <p:cNvGrpSpPr/>
        <p:nvPr/>
      </p:nvGrpSpPr>
      <p:grpSpPr>
        <a:xfrm>
          <a:off x="0" y="0"/>
          <a:ext cx="0" cy="0"/>
          <a:chOff x="0" y="0"/>
          <a:chExt cx="0" cy="0"/>
        </a:xfrm>
      </p:grpSpPr>
      <p:pic>
        <p:nvPicPr>
          <p:cNvPr descr="preencoded.png" id="363" name="Google Shape;363;p13"/>
          <p:cNvPicPr preferRelativeResize="0"/>
          <p:nvPr/>
        </p:nvPicPr>
        <p:blipFill rotWithShape="1">
          <a:blip r:embed="rId3">
            <a:alphaModFix/>
          </a:blip>
          <a:srcRect b="0" l="0" r="0" t="0"/>
          <a:stretch/>
        </p:blipFill>
        <p:spPr>
          <a:xfrm>
            <a:off x="274320" y="137160"/>
            <a:ext cx="1188720" cy="493776"/>
          </a:xfrm>
          <a:prstGeom prst="rect">
            <a:avLst/>
          </a:prstGeom>
          <a:noFill/>
          <a:ln>
            <a:noFill/>
          </a:ln>
        </p:spPr>
      </p:pic>
      <p:sp>
        <p:nvSpPr>
          <p:cNvPr id="364" name="Google Shape;364;p13"/>
          <p:cNvSpPr/>
          <p:nvPr/>
        </p:nvSpPr>
        <p:spPr>
          <a:xfrm>
            <a:off x="5029200" y="137160"/>
            <a:ext cx="4114800" cy="457200"/>
          </a:xfrm>
          <a:prstGeom prst="rect">
            <a:avLst/>
          </a:prstGeom>
          <a:solidFill>
            <a:srgbClr val="378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13"/>
          <p:cNvSpPr/>
          <p:nvPr/>
        </p:nvSpPr>
        <p:spPr>
          <a:xfrm>
            <a:off x="274320" y="777240"/>
            <a:ext cx="859536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2600"/>
              <a:buFont typeface="Arial Black"/>
              <a:buNone/>
            </a:pPr>
            <a:r>
              <a:rPr b="0" i="0" lang="en-US" sz="2600" u="none" cap="none" strike="noStrike">
                <a:solidFill>
                  <a:srgbClr val="2C3E50"/>
                </a:solidFill>
                <a:latin typeface="Arial Black"/>
                <a:ea typeface="Arial Black"/>
                <a:cs typeface="Arial Black"/>
                <a:sym typeface="Arial Black"/>
              </a:rPr>
              <a:t>Arquitectura del Pipeline (Lab)</a:t>
            </a:r>
            <a:endParaRPr b="0" i="0" sz="2600" u="none" cap="none" strike="noStrike">
              <a:solidFill>
                <a:schemeClr val="dk1"/>
              </a:solidFill>
              <a:latin typeface="Calibri"/>
              <a:ea typeface="Calibri"/>
              <a:cs typeface="Calibri"/>
              <a:sym typeface="Calibri"/>
            </a:endParaRPr>
          </a:p>
        </p:txBody>
      </p:sp>
      <p:sp>
        <p:nvSpPr>
          <p:cNvPr id="366" name="Google Shape;366;p13"/>
          <p:cNvSpPr/>
          <p:nvPr/>
        </p:nvSpPr>
        <p:spPr>
          <a:xfrm>
            <a:off x="274320" y="1463040"/>
            <a:ext cx="5029200" cy="2011680"/>
          </a:xfrm>
          <a:prstGeom prst="rect">
            <a:avLst/>
          </a:prstGeom>
          <a:solidFill>
            <a:srgbClr val="E8F5E9"/>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13"/>
          <p:cNvSpPr/>
          <p:nvPr/>
        </p:nvSpPr>
        <p:spPr>
          <a:xfrm>
            <a:off x="365760" y="1508760"/>
            <a:ext cx="22860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8757"/>
              </a:buClr>
              <a:buSzPts val="1000"/>
              <a:buFont typeface="Calibri"/>
              <a:buNone/>
            </a:pPr>
            <a:r>
              <a:rPr b="1" i="0" lang="en-US" sz="1000" u="none" cap="none" strike="noStrike">
                <a:solidFill>
                  <a:srgbClr val="378757"/>
                </a:solidFill>
                <a:latin typeface="Calibri"/>
                <a:ea typeface="Calibri"/>
                <a:cs typeface="Calibri"/>
                <a:sym typeface="Calibri"/>
              </a:rPr>
              <a:t>Infraestructura del Lab</a:t>
            </a:r>
            <a:endParaRPr b="0" i="0" sz="1000" u="none" cap="none" strike="noStrike">
              <a:solidFill>
                <a:schemeClr val="dk1"/>
              </a:solidFill>
              <a:latin typeface="Calibri"/>
              <a:ea typeface="Calibri"/>
              <a:cs typeface="Calibri"/>
              <a:sym typeface="Calibri"/>
            </a:endParaRPr>
          </a:p>
        </p:txBody>
      </p:sp>
      <p:sp>
        <p:nvSpPr>
          <p:cNvPr id="368" name="Google Shape;368;p13"/>
          <p:cNvSpPr/>
          <p:nvPr/>
        </p:nvSpPr>
        <p:spPr>
          <a:xfrm>
            <a:off x="457200" y="1828800"/>
            <a:ext cx="2194560" cy="1371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13"/>
          <p:cNvSpPr/>
          <p:nvPr/>
        </p:nvSpPr>
        <p:spPr>
          <a:xfrm>
            <a:off x="457200" y="1828800"/>
            <a:ext cx="2194560" cy="274320"/>
          </a:xfrm>
          <a:prstGeom prst="rect">
            <a:avLst/>
          </a:prstGeom>
          <a:solidFill>
            <a:srgbClr val="26A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3"/>
          <p:cNvSpPr/>
          <p:nvPr/>
        </p:nvSpPr>
        <p:spPr>
          <a:xfrm>
            <a:off x="457200" y="1828800"/>
            <a:ext cx="2194560" cy="2743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Cloud Run (ya desplegado)</a:t>
            </a:r>
            <a:endParaRPr b="0" i="0" sz="900" u="none" cap="none" strike="noStrike">
              <a:solidFill>
                <a:schemeClr val="dk1"/>
              </a:solidFill>
              <a:latin typeface="Calibri"/>
              <a:ea typeface="Calibri"/>
              <a:cs typeface="Calibri"/>
              <a:sym typeface="Calibri"/>
            </a:endParaRPr>
          </a:p>
        </p:txBody>
      </p:sp>
      <p:sp>
        <p:nvSpPr>
          <p:cNvPr id="371" name="Google Shape;371;p13"/>
          <p:cNvSpPr/>
          <p:nvPr/>
        </p:nvSpPr>
        <p:spPr>
          <a:xfrm>
            <a:off x="548640" y="2194560"/>
            <a:ext cx="201168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Valida contrato</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Feature Engineering</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Autenticado (IAM)</a:t>
            </a:r>
            <a:endParaRPr b="0" i="0" sz="900" u="none" cap="none" strike="noStrike">
              <a:solidFill>
                <a:schemeClr val="dk1"/>
              </a:solidFill>
              <a:latin typeface="Calibri"/>
              <a:ea typeface="Calibri"/>
              <a:cs typeface="Calibri"/>
              <a:sym typeface="Calibri"/>
            </a:endParaRPr>
          </a:p>
        </p:txBody>
      </p:sp>
      <p:sp>
        <p:nvSpPr>
          <p:cNvPr id="372" name="Google Shape;372;p13"/>
          <p:cNvSpPr/>
          <p:nvPr/>
        </p:nvSpPr>
        <p:spPr>
          <a:xfrm>
            <a:off x="2926080" y="1828800"/>
            <a:ext cx="2194560" cy="1371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3"/>
          <p:cNvSpPr/>
          <p:nvPr/>
        </p:nvSpPr>
        <p:spPr>
          <a:xfrm>
            <a:off x="2926080" y="1828800"/>
            <a:ext cx="2194560" cy="274320"/>
          </a:xfrm>
          <a:prstGeom prst="rect">
            <a:avLst/>
          </a:prstGeom>
          <a:solidFill>
            <a:srgbClr val="5454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3"/>
          <p:cNvSpPr/>
          <p:nvPr/>
        </p:nvSpPr>
        <p:spPr>
          <a:xfrm>
            <a:off x="2926080" y="1828800"/>
            <a:ext cx="2194560" cy="2743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Pestaña única: Airflow</a:t>
            </a:r>
            <a:endParaRPr b="0" i="0" sz="900" u="none" cap="none" strike="noStrike">
              <a:solidFill>
                <a:schemeClr val="dk1"/>
              </a:solidFill>
              <a:latin typeface="Calibri"/>
              <a:ea typeface="Calibri"/>
              <a:cs typeface="Calibri"/>
              <a:sym typeface="Calibri"/>
            </a:endParaRPr>
          </a:p>
        </p:txBody>
      </p:sp>
      <p:sp>
        <p:nvSpPr>
          <p:cNvPr id="375" name="Google Shape;375;p13"/>
          <p:cNvSpPr/>
          <p:nvPr/>
        </p:nvSpPr>
        <p:spPr>
          <a:xfrm>
            <a:off x="3017520" y="2194560"/>
            <a:ext cx="201168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Lee CSV de GCS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Envía registros → API</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Calibri"/>
                <a:ea typeface="Calibri"/>
                <a:cs typeface="Calibri"/>
                <a:sym typeface="Calibri"/>
              </a:rPr>
              <a:t>Clasifica OK/Rechazado</a:t>
            </a:r>
            <a:endParaRPr b="0" i="0" sz="900" u="none" cap="none" strike="noStrike">
              <a:solidFill>
                <a:schemeClr val="dk1"/>
              </a:solidFill>
              <a:latin typeface="Calibri"/>
              <a:ea typeface="Calibri"/>
              <a:cs typeface="Calibri"/>
              <a:sym typeface="Calibri"/>
            </a:endParaRPr>
          </a:p>
        </p:txBody>
      </p:sp>
      <p:sp>
        <p:nvSpPr>
          <p:cNvPr id="376" name="Google Shape;376;p13"/>
          <p:cNvSpPr/>
          <p:nvPr/>
        </p:nvSpPr>
        <p:spPr>
          <a:xfrm>
            <a:off x="274320" y="3657600"/>
            <a:ext cx="5029200" cy="731520"/>
          </a:xfrm>
          <a:prstGeom prst="rect">
            <a:avLst/>
          </a:prstGeom>
          <a:solidFill>
            <a:srgbClr val="E3F2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13"/>
          <p:cNvSpPr/>
          <p:nvPr/>
        </p:nvSpPr>
        <p:spPr>
          <a:xfrm>
            <a:off x="365760" y="3657600"/>
            <a:ext cx="13716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54E9"/>
              </a:buClr>
              <a:buSzPts val="1000"/>
              <a:buFont typeface="Calibri"/>
              <a:buNone/>
            </a:pPr>
            <a:r>
              <a:rPr b="1" i="0" lang="en-US" sz="1000" u="none" cap="none" strike="noStrike">
                <a:solidFill>
                  <a:srgbClr val="5454E9"/>
                </a:solidFill>
                <a:latin typeface="Calibri"/>
                <a:ea typeface="Calibri"/>
                <a:cs typeface="Calibri"/>
                <a:sym typeface="Calibri"/>
              </a:rPr>
              <a:t>Google Cloud</a:t>
            </a:r>
            <a:endParaRPr b="0" i="0" sz="1000" u="none" cap="none" strike="noStrike">
              <a:solidFill>
                <a:schemeClr val="dk1"/>
              </a:solidFill>
              <a:latin typeface="Calibri"/>
              <a:ea typeface="Calibri"/>
              <a:cs typeface="Calibri"/>
              <a:sym typeface="Calibri"/>
            </a:endParaRPr>
          </a:p>
        </p:txBody>
      </p:sp>
      <p:sp>
        <p:nvSpPr>
          <p:cNvPr id="378" name="Google Shape;378;p13"/>
          <p:cNvSpPr/>
          <p:nvPr/>
        </p:nvSpPr>
        <p:spPr>
          <a:xfrm>
            <a:off x="365760" y="3977640"/>
            <a:ext cx="1143000" cy="320040"/>
          </a:xfrm>
          <a:prstGeom prst="rect">
            <a:avLst/>
          </a:prstGeom>
          <a:solidFill>
            <a:srgbClr val="7E57C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3"/>
          <p:cNvSpPr/>
          <p:nvPr/>
        </p:nvSpPr>
        <p:spPr>
          <a:xfrm>
            <a:off x="365760" y="3977640"/>
            <a:ext cx="114300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Cloud Run (churn-api)</a:t>
            </a:r>
            <a:endParaRPr b="0" i="0" sz="800" u="none" cap="none" strike="noStrike">
              <a:solidFill>
                <a:schemeClr val="dk1"/>
              </a:solidFill>
              <a:latin typeface="Calibri"/>
              <a:ea typeface="Calibri"/>
              <a:cs typeface="Calibri"/>
              <a:sym typeface="Calibri"/>
            </a:endParaRPr>
          </a:p>
        </p:txBody>
      </p:sp>
      <p:sp>
        <p:nvSpPr>
          <p:cNvPr id="380" name="Google Shape;380;p13"/>
          <p:cNvSpPr/>
          <p:nvPr/>
        </p:nvSpPr>
        <p:spPr>
          <a:xfrm>
            <a:off x="1691640" y="3977640"/>
            <a:ext cx="1143000" cy="320040"/>
          </a:xfrm>
          <a:prstGeom prst="rect">
            <a:avLst/>
          </a:prstGeom>
          <a:solidFill>
            <a:srgbClr val="0083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13"/>
          <p:cNvSpPr/>
          <p:nvPr/>
        </p:nvSpPr>
        <p:spPr>
          <a:xfrm>
            <a:off x="1691640" y="3977640"/>
            <a:ext cx="114300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GCS</a:t>
            </a:r>
            <a:endParaRPr b="0" i="0" sz="800" u="none" cap="none" strike="noStrike">
              <a:solidFill>
                <a:schemeClr val="dk1"/>
              </a:solidFill>
              <a:latin typeface="Calibri"/>
              <a:ea typeface="Calibri"/>
              <a:cs typeface="Calibri"/>
              <a:sym typeface="Calibri"/>
            </a:endParaRPr>
          </a:p>
        </p:txBody>
      </p:sp>
      <p:sp>
        <p:nvSpPr>
          <p:cNvPr id="382" name="Google Shape;382;p13"/>
          <p:cNvSpPr/>
          <p:nvPr/>
        </p:nvSpPr>
        <p:spPr>
          <a:xfrm>
            <a:off x="3017520" y="3977640"/>
            <a:ext cx="1143000" cy="320040"/>
          </a:xfrm>
          <a:prstGeom prst="rect">
            <a:avLst/>
          </a:prstGeom>
          <a:solidFill>
            <a:srgbClr val="1565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13"/>
          <p:cNvSpPr/>
          <p:nvPr/>
        </p:nvSpPr>
        <p:spPr>
          <a:xfrm>
            <a:off x="3017520" y="3977640"/>
            <a:ext cx="114300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BQ resultados</a:t>
            </a:r>
            <a:endParaRPr b="0" i="0" sz="800" u="none" cap="none" strike="noStrike">
              <a:solidFill>
                <a:schemeClr val="dk1"/>
              </a:solidFill>
              <a:latin typeface="Calibri"/>
              <a:ea typeface="Calibri"/>
              <a:cs typeface="Calibri"/>
              <a:sym typeface="Calibri"/>
            </a:endParaRPr>
          </a:p>
        </p:txBody>
      </p:sp>
      <p:sp>
        <p:nvSpPr>
          <p:cNvPr id="384" name="Google Shape;384;p13"/>
          <p:cNvSpPr/>
          <p:nvPr/>
        </p:nvSpPr>
        <p:spPr>
          <a:xfrm>
            <a:off x="4251960" y="3977640"/>
            <a:ext cx="1143000" cy="320040"/>
          </a:xfrm>
          <a:prstGeom prst="rect">
            <a:avLst/>
          </a:prstGeom>
          <a:solidFill>
            <a:srgbClr val="E74C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13"/>
          <p:cNvSpPr/>
          <p:nvPr/>
        </p:nvSpPr>
        <p:spPr>
          <a:xfrm>
            <a:off x="4251960" y="3977640"/>
            <a:ext cx="114300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BQ cuarentena</a:t>
            </a:r>
            <a:endParaRPr b="0" i="0" sz="800" u="none" cap="none" strike="noStrike">
              <a:solidFill>
                <a:schemeClr val="dk1"/>
              </a:solidFill>
              <a:latin typeface="Calibri"/>
              <a:ea typeface="Calibri"/>
              <a:cs typeface="Calibri"/>
              <a:sym typeface="Calibri"/>
            </a:endParaRPr>
          </a:p>
        </p:txBody>
      </p:sp>
      <p:sp>
        <p:nvSpPr>
          <p:cNvPr id="386" name="Google Shape;386;p13"/>
          <p:cNvSpPr/>
          <p:nvPr/>
        </p:nvSpPr>
        <p:spPr>
          <a:xfrm>
            <a:off x="5669280" y="1463040"/>
            <a:ext cx="32004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400"/>
              <a:buFont typeface="Arial Black"/>
              <a:buNone/>
            </a:pPr>
            <a:r>
              <a:rPr b="0" i="0" lang="en-US" sz="1400" u="none" cap="none" strike="noStrike">
                <a:solidFill>
                  <a:srgbClr val="2C3E50"/>
                </a:solidFill>
                <a:latin typeface="Arial Black"/>
                <a:ea typeface="Arial Black"/>
                <a:cs typeface="Arial Black"/>
                <a:sym typeface="Arial Black"/>
              </a:rPr>
              <a:t>Costos del Lab</a:t>
            </a:r>
            <a:endParaRPr b="0" i="0" sz="1400" u="none" cap="none" strike="noStrike">
              <a:solidFill>
                <a:schemeClr val="dk1"/>
              </a:solidFill>
              <a:latin typeface="Calibri"/>
              <a:ea typeface="Calibri"/>
              <a:cs typeface="Calibri"/>
              <a:sym typeface="Calibri"/>
            </a:endParaRPr>
          </a:p>
        </p:txBody>
      </p:sp>
      <p:graphicFrame>
        <p:nvGraphicFramePr>
          <p:cNvPr id="387" name="Google Shape;387;p13"/>
          <p:cNvGraphicFramePr/>
          <p:nvPr/>
        </p:nvGraphicFramePr>
        <p:xfrm>
          <a:off x="5669280" y="1828800"/>
          <a:ext cx="3000000" cy="3000000"/>
        </p:xfrm>
        <a:graphic>
          <a:graphicData uri="http://schemas.openxmlformats.org/drawingml/2006/table">
            <a:tbl>
              <a:tblPr>
                <a:noFill/>
                <a:tableStyleId>{A2BEF54B-14FB-440B-B6E1-25F5FA6AA642}</a:tableStyleId>
              </a:tblPr>
              <a:tblGrid>
                <a:gridCol w="1828800"/>
                <a:gridCol w="1371600"/>
              </a:tblGrid>
              <a:tr h="274325">
                <a:tc>
                  <a:txBody>
                    <a:bodyPr/>
                    <a:lstStyle/>
                    <a:p>
                      <a:pPr indent="0" lvl="0" marL="0" marR="0" rtl="0" algn="l">
                        <a:lnSpc>
                          <a:spcPct val="100000"/>
                        </a:lnSpc>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Servicio</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5454E9"/>
                    </a:solidFill>
                  </a:tcPr>
                </a:tc>
                <a:tc>
                  <a:txBody>
                    <a:bodyPr/>
                    <a:lstStyle/>
                    <a:p>
                      <a:pPr indent="0" lvl="0" marL="0" marR="0" rtl="0" algn="l">
                        <a:lnSpc>
                          <a:spcPct val="100000"/>
                        </a:lnSpc>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Costo</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5454E9"/>
                    </a:solidFill>
                  </a:tcPr>
                </a:tc>
              </a:tr>
              <a:tr h="246900">
                <a:tc>
                  <a:txBody>
                    <a:bodyPr/>
                    <a:lstStyle/>
                    <a:p>
                      <a:pPr indent="0" lvl="0" marL="0" marR="0" rtl="0" algn="l">
                        <a:lnSpc>
                          <a:spcPct val="100000"/>
                        </a:lnSpc>
                        <a:spcBef>
                          <a:spcPts val="0"/>
                        </a:spcBef>
                        <a:spcAft>
                          <a:spcPts val="0"/>
                        </a:spcAft>
                        <a:buClr>
                          <a:srgbClr val="2C3E50"/>
                        </a:buClr>
                        <a:buSzPts val="1000"/>
                        <a:buFont typeface="Calibri"/>
                        <a:buNone/>
                      </a:pPr>
                      <a:r>
                        <a:rPr lang="en-US" sz="1000" u="none" cap="none" strike="noStrike">
                          <a:solidFill>
                            <a:srgbClr val="2C3E50"/>
                          </a:solidFill>
                          <a:latin typeface="Calibri"/>
                          <a:ea typeface="Calibri"/>
                          <a:cs typeface="Calibri"/>
                          <a:sym typeface="Calibri"/>
                        </a:rPr>
                        <a:t>Cloud Shell</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1000"/>
                        <a:buFont typeface="Calibri"/>
                        <a:buNone/>
                      </a:pPr>
                      <a:r>
                        <a:rPr lang="en-US" sz="1000" u="none" cap="none" strike="noStrike">
                          <a:solidFill>
                            <a:srgbClr val="2C3E50"/>
                          </a:solidFill>
                          <a:latin typeface="Calibri"/>
                          <a:ea typeface="Calibri"/>
                          <a:cs typeface="Calibri"/>
                          <a:sym typeface="Calibri"/>
                        </a:rPr>
                        <a:t>$0</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246900">
                <a:tc>
                  <a:txBody>
                    <a:bodyPr/>
                    <a:lstStyle/>
                    <a:p>
                      <a:pPr indent="0" lvl="0" marL="0" marR="0" rtl="0" algn="l">
                        <a:lnSpc>
                          <a:spcPct val="100000"/>
                        </a:lnSpc>
                        <a:spcBef>
                          <a:spcPts val="0"/>
                        </a:spcBef>
                        <a:spcAft>
                          <a:spcPts val="0"/>
                        </a:spcAft>
                        <a:buClr>
                          <a:srgbClr val="2C3E50"/>
                        </a:buClr>
                        <a:buSzPts val="1000"/>
                        <a:buFont typeface="Calibri"/>
                        <a:buNone/>
                      </a:pPr>
                      <a:r>
                        <a:rPr lang="en-US" sz="1000" u="none" cap="none" strike="noStrike">
                          <a:solidFill>
                            <a:srgbClr val="2C3E50"/>
                          </a:solidFill>
                          <a:latin typeface="Calibri"/>
                          <a:ea typeface="Calibri"/>
                          <a:cs typeface="Calibri"/>
                          <a:sym typeface="Calibri"/>
                        </a:rPr>
                        <a:t>Airflow</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1000"/>
                        <a:buFont typeface="Calibri"/>
                        <a:buNone/>
                      </a:pPr>
                      <a:r>
                        <a:rPr lang="en-US" sz="1000" u="none" cap="none" strike="noStrike">
                          <a:solidFill>
                            <a:srgbClr val="2C3E50"/>
                          </a:solidFill>
                          <a:latin typeface="Calibri"/>
                          <a:ea typeface="Calibri"/>
                          <a:cs typeface="Calibri"/>
                          <a:sym typeface="Calibri"/>
                        </a:rPr>
                        <a:t>$0</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246900">
                <a:tc>
                  <a:txBody>
                    <a:bodyPr/>
                    <a:lstStyle/>
                    <a:p>
                      <a:pPr indent="0" lvl="0" marL="0" marR="0" rtl="0" algn="l">
                        <a:lnSpc>
                          <a:spcPct val="100000"/>
                        </a:lnSpc>
                        <a:spcBef>
                          <a:spcPts val="0"/>
                        </a:spcBef>
                        <a:spcAft>
                          <a:spcPts val="0"/>
                        </a:spcAft>
                        <a:buClr>
                          <a:srgbClr val="2C3E50"/>
                        </a:buClr>
                        <a:buSzPts val="1000"/>
                        <a:buFont typeface="Calibri"/>
                        <a:buNone/>
                      </a:pPr>
                      <a:r>
                        <a:rPr lang="en-US" sz="1000" u="none" cap="none" strike="noStrike">
                          <a:solidFill>
                            <a:srgbClr val="2C3E50"/>
                          </a:solidFill>
                          <a:latin typeface="Calibri"/>
                          <a:ea typeface="Calibri"/>
                          <a:cs typeface="Calibri"/>
                          <a:sym typeface="Calibri"/>
                        </a:rPr>
                        <a:t>Cloud Run</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1000"/>
                        <a:buFont typeface="Calibri"/>
                        <a:buNone/>
                      </a:pPr>
                      <a:r>
                        <a:rPr lang="en-US" sz="1000" u="none" cap="none" strike="noStrike">
                          <a:solidFill>
                            <a:srgbClr val="2C3E50"/>
                          </a:solidFill>
                          <a:latin typeface="Calibri"/>
                          <a:ea typeface="Calibri"/>
                          <a:cs typeface="Calibri"/>
                          <a:sym typeface="Calibri"/>
                        </a:rPr>
                        <a:t>$0</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246900">
                <a:tc>
                  <a:txBody>
                    <a:bodyPr/>
                    <a:lstStyle/>
                    <a:p>
                      <a:pPr indent="0" lvl="0" marL="0" marR="0" rtl="0" algn="l">
                        <a:lnSpc>
                          <a:spcPct val="100000"/>
                        </a:lnSpc>
                        <a:spcBef>
                          <a:spcPts val="0"/>
                        </a:spcBef>
                        <a:spcAft>
                          <a:spcPts val="0"/>
                        </a:spcAft>
                        <a:buClr>
                          <a:srgbClr val="2C3E50"/>
                        </a:buClr>
                        <a:buSzPts val="1000"/>
                        <a:buFont typeface="Calibri"/>
                        <a:buNone/>
                      </a:pPr>
                      <a:r>
                        <a:rPr lang="en-US" sz="1000" u="none" cap="none" strike="noStrike">
                          <a:solidFill>
                            <a:srgbClr val="2C3E50"/>
                          </a:solidFill>
                          <a:latin typeface="Calibri"/>
                          <a:ea typeface="Calibri"/>
                          <a:cs typeface="Calibri"/>
                          <a:sym typeface="Calibri"/>
                        </a:rPr>
                        <a:t>GCS (bucket)</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1000"/>
                        <a:buFont typeface="Calibri"/>
                        <a:buNone/>
                      </a:pPr>
                      <a:r>
                        <a:rPr lang="en-US" sz="1000" u="none" cap="none" strike="noStrike">
                          <a:solidFill>
                            <a:srgbClr val="2C3E50"/>
                          </a:solidFill>
                          <a:latin typeface="Calibri"/>
                          <a:ea typeface="Calibri"/>
                          <a:cs typeface="Calibri"/>
                          <a:sym typeface="Calibri"/>
                        </a:rPr>
                        <a:t>~$0.01</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246900">
                <a:tc>
                  <a:txBody>
                    <a:bodyPr/>
                    <a:lstStyle/>
                    <a:p>
                      <a:pPr indent="0" lvl="0" marL="0" marR="0" rtl="0" algn="l">
                        <a:lnSpc>
                          <a:spcPct val="100000"/>
                        </a:lnSpc>
                        <a:spcBef>
                          <a:spcPts val="0"/>
                        </a:spcBef>
                        <a:spcAft>
                          <a:spcPts val="0"/>
                        </a:spcAft>
                        <a:buClr>
                          <a:srgbClr val="2C3E50"/>
                        </a:buClr>
                        <a:buSzPts val="1000"/>
                        <a:buFont typeface="Calibri"/>
                        <a:buNone/>
                      </a:pPr>
                      <a:r>
                        <a:rPr lang="en-US" sz="1000" u="none" cap="none" strike="noStrike">
                          <a:solidFill>
                            <a:srgbClr val="2C3E50"/>
                          </a:solidFill>
                          <a:latin typeface="Calibri"/>
                          <a:ea typeface="Calibri"/>
                          <a:cs typeface="Calibri"/>
                          <a:sym typeface="Calibri"/>
                        </a:rPr>
                        <a:t>BigQuery</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1000"/>
                        <a:buFont typeface="Calibri"/>
                        <a:buNone/>
                      </a:pPr>
                      <a:r>
                        <a:rPr lang="en-US" sz="1000" u="none" cap="none" strike="noStrike">
                          <a:solidFill>
                            <a:srgbClr val="2C3E50"/>
                          </a:solidFill>
                          <a:latin typeface="Calibri"/>
                          <a:ea typeface="Calibri"/>
                          <a:cs typeface="Calibri"/>
                          <a:sym typeface="Calibri"/>
                        </a:rPr>
                        <a:t>~$0.01</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246900">
                <a:tc>
                  <a:txBody>
                    <a:bodyPr/>
                    <a:lstStyle/>
                    <a:p>
                      <a:pPr indent="0" lvl="0" marL="0" marR="0" rtl="0" algn="l">
                        <a:lnSpc>
                          <a:spcPct val="100000"/>
                        </a:lnSpc>
                        <a:spcBef>
                          <a:spcPts val="0"/>
                        </a:spcBef>
                        <a:spcAft>
                          <a:spcPts val="0"/>
                        </a:spcAft>
                        <a:buClr>
                          <a:srgbClr val="2C3E50"/>
                        </a:buClr>
                        <a:buSzPts val="1000"/>
                        <a:buFont typeface="Calibri"/>
                        <a:buNone/>
                      </a:pPr>
                      <a:r>
                        <a:rPr lang="en-US" sz="1000" u="none" cap="none" strike="noStrike">
                          <a:solidFill>
                            <a:srgbClr val="2C3E50"/>
                          </a:solidFill>
                          <a:latin typeface="Calibri"/>
                          <a:ea typeface="Calibri"/>
                          <a:cs typeface="Calibri"/>
                          <a:sym typeface="Calibri"/>
                        </a:rPr>
                        <a:t>Streamlit (demo)</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C3E50"/>
                        </a:buClr>
                        <a:buSzPts val="1000"/>
                        <a:buFont typeface="Calibri"/>
                        <a:buNone/>
                      </a:pPr>
                      <a:r>
                        <a:rPr lang="en-US" sz="1000" u="none" cap="none" strike="noStrike">
                          <a:solidFill>
                            <a:srgbClr val="2C3E50"/>
                          </a:solidFill>
                          <a:latin typeface="Calibri"/>
                          <a:ea typeface="Calibri"/>
                          <a:cs typeface="Calibri"/>
                          <a:sym typeface="Calibri"/>
                        </a:rPr>
                        <a:t>$0</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292600">
                <a:tc>
                  <a:txBody>
                    <a:bodyPr/>
                    <a:lstStyle/>
                    <a:p>
                      <a:pPr indent="0" lvl="0" marL="0" marR="0" rtl="0" algn="l">
                        <a:lnSpc>
                          <a:spcPct val="100000"/>
                        </a:lnSpc>
                        <a:spcBef>
                          <a:spcPts val="0"/>
                        </a:spcBef>
                        <a:spcAft>
                          <a:spcPts val="0"/>
                        </a:spcAft>
                        <a:buClr>
                          <a:srgbClr val="2C3E50"/>
                        </a:buClr>
                        <a:buSzPts val="1000"/>
                        <a:buFont typeface="Calibri"/>
                        <a:buNone/>
                      </a:pPr>
                      <a:r>
                        <a:rPr b="1" lang="en-US" sz="1000" u="none" cap="none" strike="noStrike">
                          <a:solidFill>
                            <a:srgbClr val="2C3E50"/>
                          </a:solidFill>
                          <a:latin typeface="Calibri"/>
                          <a:ea typeface="Calibri"/>
                          <a:cs typeface="Calibri"/>
                          <a:sym typeface="Calibri"/>
                        </a:rPr>
                        <a:t>TOTAL</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378757"/>
                        </a:buClr>
                        <a:buSzPts val="1000"/>
                        <a:buFont typeface="Calibri"/>
                        <a:buNone/>
                      </a:pPr>
                      <a:r>
                        <a:rPr b="1" lang="en-US" sz="1000" u="none" cap="none" strike="noStrike">
                          <a:solidFill>
                            <a:srgbClr val="378757"/>
                          </a:solidFill>
                          <a:latin typeface="Calibri"/>
                          <a:ea typeface="Calibri"/>
                          <a:cs typeface="Calibri"/>
                          <a:sym typeface="Calibri"/>
                        </a:rPr>
                        <a:t>&lt; $0.05</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bl>
          </a:graphicData>
        </a:graphic>
      </p:graphicFrame>
      <p:sp>
        <p:nvSpPr>
          <p:cNvPr id="388" name="Google Shape;388;p13"/>
          <p:cNvSpPr/>
          <p:nvPr/>
        </p:nvSpPr>
        <p:spPr>
          <a:xfrm>
            <a:off x="274320" y="4709160"/>
            <a:ext cx="859536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9683B"/>
              </a:buClr>
              <a:buSzPts val="1000"/>
              <a:buFont typeface="Calibri"/>
              <a:buNone/>
            </a:pPr>
            <a:r>
              <a:rPr b="0" i="1" lang="en-US" sz="1000" u="none" cap="none" strike="noStrike">
                <a:solidFill>
                  <a:srgbClr val="E9683B"/>
                </a:solidFill>
                <a:latin typeface="Calibri"/>
                <a:ea typeface="Calibri"/>
                <a:cs typeface="Calibri"/>
                <a:sym typeface="Calibri"/>
              </a:rPr>
              <a:t>Regla FinOps: con min-instances=0, Cloud Run cuesta $0 en reposo. Pagas solo por invocación real.</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E9"/>
        </a:solidFill>
      </p:bgPr>
    </p:bg>
    <p:spTree>
      <p:nvGrpSpPr>
        <p:cNvPr id="393" name="Shape 393"/>
        <p:cNvGrpSpPr/>
        <p:nvPr/>
      </p:nvGrpSpPr>
      <p:grpSpPr>
        <a:xfrm>
          <a:off x="0" y="0"/>
          <a:ext cx="0" cy="0"/>
          <a:chOff x="0" y="0"/>
          <a:chExt cx="0" cy="0"/>
        </a:xfrm>
      </p:grpSpPr>
      <p:pic>
        <p:nvPicPr>
          <p:cNvPr descr="preencoded.png" id="394" name="Google Shape;394;p14"/>
          <p:cNvPicPr preferRelativeResize="0"/>
          <p:nvPr/>
        </p:nvPicPr>
        <p:blipFill rotWithShape="1">
          <a:blip r:embed="rId3">
            <a:alphaModFix/>
          </a:blip>
          <a:srcRect b="0" l="0" r="0" t="0"/>
          <a:stretch/>
        </p:blipFill>
        <p:spPr>
          <a:xfrm>
            <a:off x="274320" y="228600"/>
            <a:ext cx="1463040" cy="612648"/>
          </a:xfrm>
          <a:prstGeom prst="rect">
            <a:avLst/>
          </a:prstGeom>
          <a:noFill/>
          <a:ln>
            <a:noFill/>
          </a:ln>
        </p:spPr>
      </p:pic>
      <p:sp>
        <p:nvSpPr>
          <p:cNvPr id="395" name="Google Shape;395;p14"/>
          <p:cNvSpPr/>
          <p:nvPr/>
        </p:nvSpPr>
        <p:spPr>
          <a:xfrm>
            <a:off x="274320" y="822960"/>
            <a:ext cx="85953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800"/>
              <a:buFont typeface="Arial Black"/>
              <a:buNone/>
            </a:pPr>
            <a:r>
              <a:rPr b="0" i="0" lang="en-US" sz="2800" u="none" cap="none" strike="noStrike">
                <a:solidFill>
                  <a:srgbClr val="FFFFFF"/>
                </a:solidFill>
                <a:latin typeface="Arial Black"/>
                <a:ea typeface="Arial Black"/>
                <a:cs typeface="Arial Black"/>
                <a:sym typeface="Arial Black"/>
              </a:rPr>
              <a:t>MLOps: El Ciclo Completo</a:t>
            </a:r>
            <a:endParaRPr b="0" i="0" sz="2800" u="none" cap="none" strike="noStrike">
              <a:solidFill>
                <a:schemeClr val="dk1"/>
              </a:solidFill>
              <a:latin typeface="Calibri"/>
              <a:ea typeface="Calibri"/>
              <a:cs typeface="Calibri"/>
              <a:sym typeface="Calibri"/>
            </a:endParaRPr>
          </a:p>
        </p:txBody>
      </p:sp>
      <p:sp>
        <p:nvSpPr>
          <p:cNvPr id="396" name="Google Shape;396;p14"/>
          <p:cNvSpPr/>
          <p:nvPr/>
        </p:nvSpPr>
        <p:spPr>
          <a:xfrm>
            <a:off x="274320" y="1371600"/>
            <a:ext cx="859536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2EA61"/>
              </a:buClr>
              <a:buSzPts val="1400"/>
              <a:buFont typeface="Calibri"/>
              <a:buNone/>
            </a:pPr>
            <a:r>
              <a:rPr b="0" i="1" lang="en-US" sz="1400" u="none" cap="none" strike="noStrike">
                <a:solidFill>
                  <a:srgbClr val="E2EA61"/>
                </a:solidFill>
                <a:latin typeface="Calibri"/>
                <a:ea typeface="Calibri"/>
                <a:cs typeface="Calibri"/>
                <a:sym typeface="Calibri"/>
              </a:rPr>
              <a:t>Lo que construyeron en 4 unidades es un ciclo MLOps completo</a:t>
            </a:r>
            <a:endParaRPr b="0" i="0" sz="1400" u="none" cap="none" strike="noStrike">
              <a:solidFill>
                <a:schemeClr val="dk1"/>
              </a:solidFill>
              <a:latin typeface="Calibri"/>
              <a:ea typeface="Calibri"/>
              <a:cs typeface="Calibri"/>
              <a:sym typeface="Calibri"/>
            </a:endParaRPr>
          </a:p>
        </p:txBody>
      </p:sp>
      <p:sp>
        <p:nvSpPr>
          <p:cNvPr id="397" name="Google Shape;397;p14"/>
          <p:cNvSpPr/>
          <p:nvPr/>
        </p:nvSpPr>
        <p:spPr>
          <a:xfrm>
            <a:off x="457200" y="1920240"/>
            <a:ext cx="8229600" cy="548640"/>
          </a:xfrm>
          <a:prstGeom prst="rect">
            <a:avLst/>
          </a:prstGeom>
          <a:solidFill>
            <a:srgbClr val="3F3F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14"/>
          <p:cNvSpPr/>
          <p:nvPr/>
        </p:nvSpPr>
        <p:spPr>
          <a:xfrm>
            <a:off x="457200" y="1920240"/>
            <a:ext cx="73152" cy="548640"/>
          </a:xfrm>
          <a:prstGeom prst="rect">
            <a:avLst/>
          </a:prstGeom>
          <a:solidFill>
            <a:srgbClr val="7E57C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4"/>
          <p:cNvSpPr/>
          <p:nvPr/>
        </p:nvSpPr>
        <p:spPr>
          <a:xfrm>
            <a:off x="640080" y="1993392"/>
            <a:ext cx="640080" cy="402336"/>
          </a:xfrm>
          <a:prstGeom prst="rect">
            <a:avLst/>
          </a:prstGeom>
          <a:solidFill>
            <a:srgbClr val="7E57C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4"/>
          <p:cNvSpPr/>
          <p:nvPr/>
        </p:nvSpPr>
        <p:spPr>
          <a:xfrm>
            <a:off x="640080" y="1993392"/>
            <a:ext cx="640080" cy="40233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Arial Black"/>
              <a:buNone/>
            </a:pPr>
            <a:r>
              <a:rPr b="0" i="0" lang="en-US" sz="1400" u="none" cap="none" strike="noStrike">
                <a:solidFill>
                  <a:srgbClr val="FFFFFF"/>
                </a:solidFill>
                <a:latin typeface="Arial Black"/>
                <a:ea typeface="Arial Black"/>
                <a:cs typeface="Arial Black"/>
                <a:sym typeface="Arial Black"/>
              </a:rPr>
              <a:t>U3</a:t>
            </a:r>
            <a:endParaRPr b="0" i="0" sz="1400" u="none" cap="none" strike="noStrike">
              <a:solidFill>
                <a:schemeClr val="dk1"/>
              </a:solidFill>
              <a:latin typeface="Calibri"/>
              <a:ea typeface="Calibri"/>
              <a:cs typeface="Calibri"/>
              <a:sym typeface="Calibri"/>
            </a:endParaRPr>
          </a:p>
        </p:txBody>
      </p:sp>
      <p:sp>
        <p:nvSpPr>
          <p:cNvPr id="401" name="Google Shape;401;p14"/>
          <p:cNvSpPr/>
          <p:nvPr/>
        </p:nvSpPr>
        <p:spPr>
          <a:xfrm>
            <a:off x="1463040" y="1920240"/>
            <a:ext cx="3200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Calidad de Datos</a:t>
            </a:r>
            <a:endParaRPr b="0" i="0" sz="1500" u="none" cap="none" strike="noStrike">
              <a:solidFill>
                <a:schemeClr val="dk1"/>
              </a:solidFill>
              <a:latin typeface="Calibri"/>
              <a:ea typeface="Calibri"/>
              <a:cs typeface="Calibri"/>
              <a:sym typeface="Calibri"/>
            </a:endParaRPr>
          </a:p>
        </p:txBody>
      </p:sp>
      <p:sp>
        <p:nvSpPr>
          <p:cNvPr id="402" name="Google Shape;402;p14"/>
          <p:cNvSpPr/>
          <p:nvPr/>
        </p:nvSpPr>
        <p:spPr>
          <a:xfrm>
            <a:off x="4754880" y="1920240"/>
            <a:ext cx="37490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1200"/>
              <a:buFont typeface="Calibri"/>
              <a:buNone/>
            </a:pPr>
            <a:r>
              <a:rPr b="0" i="0" lang="en-US" sz="1200" u="none" cap="none" strike="noStrike">
                <a:solidFill>
                  <a:srgbClr val="999999"/>
                </a:solidFill>
                <a:latin typeface="Calibri"/>
                <a:ea typeface="Calibri"/>
                <a:cs typeface="Calibri"/>
                <a:sym typeface="Calibri"/>
              </a:rPr>
              <a:t>SHAP, Análisis de sesgo</a:t>
            </a:r>
            <a:endParaRPr b="0" i="0" sz="1200" u="none" cap="none" strike="noStrike">
              <a:solidFill>
                <a:schemeClr val="dk1"/>
              </a:solidFill>
              <a:latin typeface="Calibri"/>
              <a:ea typeface="Calibri"/>
              <a:cs typeface="Calibri"/>
              <a:sym typeface="Calibri"/>
            </a:endParaRPr>
          </a:p>
        </p:txBody>
      </p:sp>
      <p:sp>
        <p:nvSpPr>
          <p:cNvPr id="403" name="Google Shape;403;p14"/>
          <p:cNvSpPr/>
          <p:nvPr/>
        </p:nvSpPr>
        <p:spPr>
          <a:xfrm>
            <a:off x="4114800" y="2423160"/>
            <a:ext cx="9144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E2EA61"/>
              </a:buClr>
              <a:buSzPts val="1400"/>
              <a:buFont typeface="Calibri"/>
              <a:buNone/>
            </a:pPr>
            <a:r>
              <a:rPr b="0" i="0" lang="en-US" sz="1400" u="none" cap="none" strike="noStrike">
                <a:solidFill>
                  <a:srgbClr val="E2EA61"/>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04" name="Google Shape;404;p14"/>
          <p:cNvSpPr/>
          <p:nvPr/>
        </p:nvSpPr>
        <p:spPr>
          <a:xfrm>
            <a:off x="457200" y="2606040"/>
            <a:ext cx="8229600" cy="548640"/>
          </a:xfrm>
          <a:prstGeom prst="rect">
            <a:avLst/>
          </a:prstGeom>
          <a:solidFill>
            <a:srgbClr val="3F3F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4"/>
          <p:cNvSpPr/>
          <p:nvPr/>
        </p:nvSpPr>
        <p:spPr>
          <a:xfrm>
            <a:off x="457200" y="2606040"/>
            <a:ext cx="73152" cy="548640"/>
          </a:xfrm>
          <a:prstGeom prst="rect">
            <a:avLst/>
          </a:prstGeom>
          <a:solidFill>
            <a:srgbClr val="42A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14"/>
          <p:cNvSpPr/>
          <p:nvPr/>
        </p:nvSpPr>
        <p:spPr>
          <a:xfrm>
            <a:off x="640080" y="2679192"/>
            <a:ext cx="640080" cy="402336"/>
          </a:xfrm>
          <a:prstGeom prst="rect">
            <a:avLst/>
          </a:prstGeom>
          <a:solidFill>
            <a:srgbClr val="42A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14"/>
          <p:cNvSpPr/>
          <p:nvPr/>
        </p:nvSpPr>
        <p:spPr>
          <a:xfrm>
            <a:off x="640080" y="2679192"/>
            <a:ext cx="640080" cy="40233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Arial Black"/>
              <a:buNone/>
            </a:pPr>
            <a:r>
              <a:rPr b="0" i="0" lang="en-US" sz="1400" u="none" cap="none" strike="noStrike">
                <a:solidFill>
                  <a:srgbClr val="FFFFFF"/>
                </a:solidFill>
                <a:latin typeface="Arial Black"/>
                <a:ea typeface="Arial Black"/>
                <a:cs typeface="Arial Black"/>
                <a:sym typeface="Arial Black"/>
              </a:rPr>
              <a:t>U4</a:t>
            </a:r>
            <a:endParaRPr b="0" i="0" sz="1400" u="none" cap="none" strike="noStrike">
              <a:solidFill>
                <a:schemeClr val="dk1"/>
              </a:solidFill>
              <a:latin typeface="Calibri"/>
              <a:ea typeface="Calibri"/>
              <a:cs typeface="Calibri"/>
              <a:sym typeface="Calibri"/>
            </a:endParaRPr>
          </a:p>
        </p:txBody>
      </p:sp>
      <p:sp>
        <p:nvSpPr>
          <p:cNvPr id="408" name="Google Shape;408;p14"/>
          <p:cNvSpPr/>
          <p:nvPr/>
        </p:nvSpPr>
        <p:spPr>
          <a:xfrm>
            <a:off x="1463040" y="2606040"/>
            <a:ext cx="3200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Entrenamiento</a:t>
            </a:r>
            <a:endParaRPr b="0" i="0" sz="1500" u="none" cap="none" strike="noStrike">
              <a:solidFill>
                <a:schemeClr val="dk1"/>
              </a:solidFill>
              <a:latin typeface="Calibri"/>
              <a:ea typeface="Calibri"/>
              <a:cs typeface="Calibri"/>
              <a:sym typeface="Calibri"/>
            </a:endParaRPr>
          </a:p>
        </p:txBody>
      </p:sp>
      <p:sp>
        <p:nvSpPr>
          <p:cNvPr id="409" name="Google Shape;409;p14"/>
          <p:cNvSpPr/>
          <p:nvPr/>
        </p:nvSpPr>
        <p:spPr>
          <a:xfrm>
            <a:off x="4754880" y="2606040"/>
            <a:ext cx="37490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1200"/>
              <a:buFont typeface="Calibri"/>
              <a:buNone/>
            </a:pPr>
            <a:r>
              <a:rPr b="0" i="0" lang="en-US" sz="1200" u="none" cap="none" strike="noStrike">
                <a:solidFill>
                  <a:srgbClr val="999999"/>
                </a:solidFill>
                <a:latin typeface="Calibri"/>
                <a:ea typeface="Calibri"/>
                <a:cs typeface="Calibri"/>
                <a:sym typeface="Calibri"/>
              </a:rPr>
              <a:t>BigQuery, Optuna, XGBoost</a:t>
            </a:r>
            <a:endParaRPr b="0" i="0" sz="1200" u="none" cap="none" strike="noStrike">
              <a:solidFill>
                <a:schemeClr val="dk1"/>
              </a:solidFill>
              <a:latin typeface="Calibri"/>
              <a:ea typeface="Calibri"/>
              <a:cs typeface="Calibri"/>
              <a:sym typeface="Calibri"/>
            </a:endParaRPr>
          </a:p>
        </p:txBody>
      </p:sp>
      <p:sp>
        <p:nvSpPr>
          <p:cNvPr id="410" name="Google Shape;410;p14"/>
          <p:cNvSpPr/>
          <p:nvPr/>
        </p:nvSpPr>
        <p:spPr>
          <a:xfrm>
            <a:off x="4114800" y="3108960"/>
            <a:ext cx="9144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E2EA61"/>
              </a:buClr>
              <a:buSzPts val="1400"/>
              <a:buFont typeface="Calibri"/>
              <a:buNone/>
            </a:pPr>
            <a:r>
              <a:rPr b="0" i="0" lang="en-US" sz="1400" u="none" cap="none" strike="noStrike">
                <a:solidFill>
                  <a:srgbClr val="E2EA61"/>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11" name="Google Shape;411;p14"/>
          <p:cNvSpPr/>
          <p:nvPr/>
        </p:nvSpPr>
        <p:spPr>
          <a:xfrm>
            <a:off x="457200" y="3291840"/>
            <a:ext cx="8229600" cy="548640"/>
          </a:xfrm>
          <a:prstGeom prst="rect">
            <a:avLst/>
          </a:prstGeom>
          <a:solidFill>
            <a:srgbClr val="3F3F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4"/>
          <p:cNvSpPr/>
          <p:nvPr/>
        </p:nvSpPr>
        <p:spPr>
          <a:xfrm>
            <a:off x="457200" y="3291840"/>
            <a:ext cx="73152" cy="548640"/>
          </a:xfrm>
          <a:prstGeom prst="rect">
            <a:avLst/>
          </a:prstGeom>
          <a:solidFill>
            <a:srgbClr val="26A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4"/>
          <p:cNvSpPr/>
          <p:nvPr/>
        </p:nvSpPr>
        <p:spPr>
          <a:xfrm>
            <a:off x="640080" y="3364992"/>
            <a:ext cx="640080" cy="402336"/>
          </a:xfrm>
          <a:prstGeom prst="rect">
            <a:avLst/>
          </a:prstGeom>
          <a:solidFill>
            <a:srgbClr val="26A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4"/>
          <p:cNvSpPr/>
          <p:nvPr/>
        </p:nvSpPr>
        <p:spPr>
          <a:xfrm>
            <a:off x="640080" y="3364992"/>
            <a:ext cx="640080" cy="40233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Arial Black"/>
              <a:buNone/>
            </a:pPr>
            <a:r>
              <a:rPr b="0" i="0" lang="en-US" sz="1400" u="none" cap="none" strike="noStrike">
                <a:solidFill>
                  <a:srgbClr val="FFFFFF"/>
                </a:solidFill>
                <a:latin typeface="Arial Black"/>
                <a:ea typeface="Arial Black"/>
                <a:cs typeface="Arial Black"/>
                <a:sym typeface="Arial Black"/>
              </a:rPr>
              <a:t>U5</a:t>
            </a:r>
            <a:endParaRPr b="0" i="0" sz="1400" u="none" cap="none" strike="noStrike">
              <a:solidFill>
                <a:schemeClr val="dk1"/>
              </a:solidFill>
              <a:latin typeface="Calibri"/>
              <a:ea typeface="Calibri"/>
              <a:cs typeface="Calibri"/>
              <a:sym typeface="Calibri"/>
            </a:endParaRPr>
          </a:p>
        </p:txBody>
      </p:sp>
      <p:sp>
        <p:nvSpPr>
          <p:cNvPr id="415" name="Google Shape;415;p14"/>
          <p:cNvSpPr/>
          <p:nvPr/>
        </p:nvSpPr>
        <p:spPr>
          <a:xfrm>
            <a:off x="1463040" y="3291840"/>
            <a:ext cx="3200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Despliegue / Serving</a:t>
            </a:r>
            <a:endParaRPr b="0" i="0" sz="1500" u="none" cap="none" strike="noStrike">
              <a:solidFill>
                <a:schemeClr val="dk1"/>
              </a:solidFill>
              <a:latin typeface="Calibri"/>
              <a:ea typeface="Calibri"/>
              <a:cs typeface="Calibri"/>
              <a:sym typeface="Calibri"/>
            </a:endParaRPr>
          </a:p>
        </p:txBody>
      </p:sp>
      <p:sp>
        <p:nvSpPr>
          <p:cNvPr id="416" name="Google Shape;416;p14"/>
          <p:cNvSpPr/>
          <p:nvPr/>
        </p:nvSpPr>
        <p:spPr>
          <a:xfrm>
            <a:off x="4754880" y="3291840"/>
            <a:ext cx="37490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1200"/>
              <a:buFont typeface="Calibri"/>
              <a:buNone/>
            </a:pPr>
            <a:r>
              <a:rPr b="0" i="0" lang="en-US" sz="1200" u="none" cap="none" strike="noStrike">
                <a:solidFill>
                  <a:srgbClr val="999999"/>
                </a:solidFill>
                <a:latin typeface="Calibri"/>
                <a:ea typeface="Calibri"/>
                <a:cs typeface="Calibri"/>
                <a:sym typeface="Calibri"/>
              </a:rPr>
              <a:t>FastAPI, Pydantic, Cloud Run</a:t>
            </a:r>
            <a:endParaRPr b="0" i="0" sz="1200" u="none" cap="none" strike="noStrike">
              <a:solidFill>
                <a:schemeClr val="dk1"/>
              </a:solidFill>
              <a:latin typeface="Calibri"/>
              <a:ea typeface="Calibri"/>
              <a:cs typeface="Calibri"/>
              <a:sym typeface="Calibri"/>
            </a:endParaRPr>
          </a:p>
        </p:txBody>
      </p:sp>
      <p:sp>
        <p:nvSpPr>
          <p:cNvPr id="417" name="Google Shape;417;p14"/>
          <p:cNvSpPr/>
          <p:nvPr/>
        </p:nvSpPr>
        <p:spPr>
          <a:xfrm>
            <a:off x="4114800" y="3794760"/>
            <a:ext cx="9144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E2EA61"/>
              </a:buClr>
              <a:buSzPts val="1400"/>
              <a:buFont typeface="Calibri"/>
              <a:buNone/>
            </a:pPr>
            <a:r>
              <a:rPr b="0" i="0" lang="en-US" sz="1400" u="none" cap="none" strike="noStrike">
                <a:solidFill>
                  <a:srgbClr val="E2EA61"/>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18" name="Google Shape;418;p14"/>
          <p:cNvSpPr/>
          <p:nvPr/>
        </p:nvSpPr>
        <p:spPr>
          <a:xfrm>
            <a:off x="457200" y="3977640"/>
            <a:ext cx="8229600" cy="548640"/>
          </a:xfrm>
          <a:prstGeom prst="rect">
            <a:avLst/>
          </a:prstGeom>
          <a:solidFill>
            <a:srgbClr val="3F3F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14"/>
          <p:cNvSpPr/>
          <p:nvPr/>
        </p:nvSpPr>
        <p:spPr>
          <a:xfrm>
            <a:off x="457200" y="3977640"/>
            <a:ext cx="73152" cy="548640"/>
          </a:xfrm>
          <a:prstGeom prst="rect">
            <a:avLst/>
          </a:prstGeom>
          <a:solidFill>
            <a:srgbClr val="E2E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14"/>
          <p:cNvSpPr/>
          <p:nvPr/>
        </p:nvSpPr>
        <p:spPr>
          <a:xfrm>
            <a:off x="640080" y="4050792"/>
            <a:ext cx="640080" cy="402336"/>
          </a:xfrm>
          <a:prstGeom prst="rect">
            <a:avLst/>
          </a:prstGeom>
          <a:solidFill>
            <a:srgbClr val="E2E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14"/>
          <p:cNvSpPr/>
          <p:nvPr/>
        </p:nvSpPr>
        <p:spPr>
          <a:xfrm>
            <a:off x="640080" y="4050792"/>
            <a:ext cx="640080" cy="40233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400"/>
              <a:buFont typeface="Arial Black"/>
              <a:buNone/>
            </a:pPr>
            <a:r>
              <a:rPr b="0" i="0" lang="en-US" sz="1400" u="none" cap="none" strike="noStrike">
                <a:solidFill>
                  <a:srgbClr val="2C3E50"/>
                </a:solidFill>
                <a:latin typeface="Arial Black"/>
                <a:ea typeface="Arial Black"/>
                <a:cs typeface="Arial Black"/>
                <a:sym typeface="Arial Black"/>
              </a:rPr>
              <a:t>U6</a:t>
            </a:r>
            <a:endParaRPr b="0" i="0" sz="1400" u="none" cap="none" strike="noStrike">
              <a:solidFill>
                <a:schemeClr val="dk1"/>
              </a:solidFill>
              <a:latin typeface="Calibri"/>
              <a:ea typeface="Calibri"/>
              <a:cs typeface="Calibri"/>
              <a:sym typeface="Calibri"/>
            </a:endParaRPr>
          </a:p>
        </p:txBody>
      </p:sp>
      <p:sp>
        <p:nvSpPr>
          <p:cNvPr id="422" name="Google Shape;422;p14"/>
          <p:cNvSpPr/>
          <p:nvPr/>
        </p:nvSpPr>
        <p:spPr>
          <a:xfrm>
            <a:off x="1463040" y="3977640"/>
            <a:ext cx="3200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Monitoreo + Automatización</a:t>
            </a:r>
            <a:endParaRPr b="0" i="0" sz="1500" u="none" cap="none" strike="noStrike">
              <a:solidFill>
                <a:schemeClr val="dk1"/>
              </a:solidFill>
              <a:latin typeface="Calibri"/>
              <a:ea typeface="Calibri"/>
              <a:cs typeface="Calibri"/>
              <a:sym typeface="Calibri"/>
            </a:endParaRPr>
          </a:p>
        </p:txBody>
      </p:sp>
      <p:sp>
        <p:nvSpPr>
          <p:cNvPr id="423" name="Google Shape;423;p14"/>
          <p:cNvSpPr/>
          <p:nvPr/>
        </p:nvSpPr>
        <p:spPr>
          <a:xfrm>
            <a:off x="4754880" y="3977640"/>
            <a:ext cx="37490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1200"/>
              <a:buFont typeface="Calibri"/>
              <a:buNone/>
            </a:pPr>
            <a:r>
              <a:rPr b="0" i="0" lang="en-US" sz="1200" u="none" cap="none" strike="noStrike">
                <a:solidFill>
                  <a:srgbClr val="999999"/>
                </a:solidFill>
                <a:latin typeface="Calibri"/>
                <a:ea typeface="Calibri"/>
                <a:cs typeface="Calibri"/>
                <a:sym typeface="Calibri"/>
              </a:rPr>
              <a:t>Airflow, BigQuery, GCS</a:t>
            </a:r>
            <a:endParaRPr b="0" i="0" sz="1200" u="none" cap="none" strike="noStrike">
              <a:solidFill>
                <a:schemeClr val="dk1"/>
              </a:solidFill>
              <a:latin typeface="Calibri"/>
              <a:ea typeface="Calibri"/>
              <a:cs typeface="Calibri"/>
              <a:sym typeface="Calibri"/>
            </a:endParaRPr>
          </a:p>
        </p:txBody>
      </p:sp>
      <p:sp>
        <p:nvSpPr>
          <p:cNvPr id="424" name="Google Shape;424;p14"/>
          <p:cNvSpPr/>
          <p:nvPr/>
        </p:nvSpPr>
        <p:spPr>
          <a:xfrm>
            <a:off x="457200" y="4709160"/>
            <a:ext cx="8229600" cy="2743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E2EA61"/>
              </a:buClr>
              <a:buSzPts val="1200"/>
              <a:buFont typeface="Calibri"/>
              <a:buNone/>
            </a:pPr>
            <a:r>
              <a:rPr b="0" i="0" lang="en-US" sz="1200" u="none" cap="none" strike="noStrike">
                <a:solidFill>
                  <a:srgbClr val="E2EA61"/>
                </a:solidFill>
                <a:latin typeface="Calibri"/>
                <a:ea typeface="Calibri"/>
                <a:cs typeface="Calibri"/>
                <a:sym typeface="Calibri"/>
              </a:rPr>
              <a:t>↺  Feedback Loop: si hay drift, volver a U4 (reentrenar)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 name="Shape 429"/>
        <p:cNvGrpSpPr/>
        <p:nvPr/>
      </p:nvGrpSpPr>
      <p:grpSpPr>
        <a:xfrm>
          <a:off x="0" y="0"/>
          <a:ext cx="0" cy="0"/>
          <a:chOff x="0" y="0"/>
          <a:chExt cx="0" cy="0"/>
        </a:xfrm>
      </p:grpSpPr>
      <p:pic>
        <p:nvPicPr>
          <p:cNvPr descr="preencoded.png" id="430" name="Google Shape;430;p15"/>
          <p:cNvPicPr preferRelativeResize="0"/>
          <p:nvPr/>
        </p:nvPicPr>
        <p:blipFill rotWithShape="1">
          <a:blip r:embed="rId3">
            <a:alphaModFix/>
          </a:blip>
          <a:srcRect b="0" l="0" r="0" t="0"/>
          <a:stretch/>
        </p:blipFill>
        <p:spPr>
          <a:xfrm>
            <a:off x="274320" y="137160"/>
            <a:ext cx="1188720" cy="493776"/>
          </a:xfrm>
          <a:prstGeom prst="rect">
            <a:avLst/>
          </a:prstGeom>
          <a:noFill/>
          <a:ln>
            <a:noFill/>
          </a:ln>
        </p:spPr>
      </p:pic>
      <p:sp>
        <p:nvSpPr>
          <p:cNvPr id="431" name="Google Shape;431;p15"/>
          <p:cNvSpPr/>
          <p:nvPr/>
        </p:nvSpPr>
        <p:spPr>
          <a:xfrm>
            <a:off x="5029200" y="137160"/>
            <a:ext cx="4114800" cy="457200"/>
          </a:xfrm>
          <a:prstGeom prst="rect">
            <a:avLst/>
          </a:prstGeom>
          <a:solidFill>
            <a:srgbClr val="378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15"/>
          <p:cNvSpPr/>
          <p:nvPr/>
        </p:nvSpPr>
        <p:spPr>
          <a:xfrm>
            <a:off x="274320" y="777240"/>
            <a:ext cx="859536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2600"/>
              <a:buFont typeface="Arial Black"/>
              <a:buNone/>
            </a:pPr>
            <a:r>
              <a:rPr b="0" i="0" lang="en-US" sz="2600" u="none" cap="none" strike="noStrike">
                <a:solidFill>
                  <a:srgbClr val="2C3E50"/>
                </a:solidFill>
                <a:latin typeface="Arial Black"/>
                <a:ea typeface="Arial Black"/>
                <a:cs typeface="Arial Black"/>
                <a:sym typeface="Arial Black"/>
              </a:rPr>
              <a:t>Resumen</a:t>
            </a:r>
            <a:endParaRPr b="0" i="0" sz="2600" u="none" cap="none" strike="noStrike">
              <a:solidFill>
                <a:schemeClr val="dk1"/>
              </a:solidFill>
              <a:latin typeface="Calibri"/>
              <a:ea typeface="Calibri"/>
              <a:cs typeface="Calibri"/>
              <a:sym typeface="Calibri"/>
            </a:endParaRPr>
          </a:p>
        </p:txBody>
      </p:sp>
      <p:sp>
        <p:nvSpPr>
          <p:cNvPr id="433" name="Google Shape;433;p15"/>
          <p:cNvSpPr/>
          <p:nvPr/>
        </p:nvSpPr>
        <p:spPr>
          <a:xfrm>
            <a:off x="274320" y="1554480"/>
            <a:ext cx="8595360" cy="4572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5"/>
          <p:cNvSpPr/>
          <p:nvPr/>
        </p:nvSpPr>
        <p:spPr>
          <a:xfrm>
            <a:off x="411480" y="1618488"/>
            <a:ext cx="329184" cy="329184"/>
          </a:xfrm>
          <a:prstGeom prst="ellipse">
            <a:avLst/>
          </a:prstGeom>
          <a:solidFill>
            <a:srgbClr val="7E57C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15"/>
          <p:cNvSpPr/>
          <p:nvPr/>
        </p:nvSpPr>
        <p:spPr>
          <a:xfrm>
            <a:off x="411480" y="1618488"/>
            <a:ext cx="329184" cy="329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Arial Black"/>
              <a:buNone/>
            </a:pPr>
            <a:r>
              <a:rPr b="0" i="0" lang="en-US" sz="1400" u="none" cap="none" strike="noStrike">
                <a:solidFill>
                  <a:srgbClr val="FFFFFF"/>
                </a:solidFill>
                <a:latin typeface="Arial Black"/>
                <a:ea typeface="Arial Black"/>
                <a:cs typeface="Arial Black"/>
                <a:sym typeface="Arial Black"/>
              </a:rPr>
              <a:t>1</a:t>
            </a:r>
            <a:endParaRPr b="0" i="0" sz="1400" u="none" cap="none" strike="noStrike">
              <a:solidFill>
                <a:schemeClr val="dk1"/>
              </a:solidFill>
              <a:latin typeface="Calibri"/>
              <a:ea typeface="Calibri"/>
              <a:cs typeface="Calibri"/>
              <a:sym typeface="Calibri"/>
            </a:endParaRPr>
          </a:p>
        </p:txBody>
      </p:sp>
      <p:sp>
        <p:nvSpPr>
          <p:cNvPr id="436" name="Google Shape;436;p15"/>
          <p:cNvSpPr/>
          <p:nvPr/>
        </p:nvSpPr>
        <p:spPr>
          <a:xfrm>
            <a:off x="914400" y="1554480"/>
            <a:ext cx="2286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ETL con Airflow</a:t>
            </a:r>
            <a:endParaRPr b="0" i="0" sz="1300" u="none" cap="none" strike="noStrike">
              <a:solidFill>
                <a:schemeClr val="dk1"/>
              </a:solidFill>
              <a:latin typeface="Calibri"/>
              <a:ea typeface="Calibri"/>
              <a:cs typeface="Calibri"/>
              <a:sym typeface="Calibri"/>
            </a:endParaRPr>
          </a:p>
        </p:txBody>
      </p:sp>
      <p:sp>
        <p:nvSpPr>
          <p:cNvPr id="437" name="Google Shape;437;p15"/>
          <p:cNvSpPr/>
          <p:nvPr/>
        </p:nvSpPr>
        <p:spPr>
          <a:xfrm>
            <a:off x="3200400" y="1554480"/>
            <a:ext cx="5486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GCS (Extract) → FastAPI (Transform) → BigQuery (Load)</a:t>
            </a:r>
            <a:endParaRPr b="0" i="0" sz="1100" u="none" cap="none" strike="noStrike">
              <a:solidFill>
                <a:schemeClr val="dk1"/>
              </a:solidFill>
              <a:latin typeface="Calibri"/>
              <a:ea typeface="Calibri"/>
              <a:cs typeface="Calibri"/>
              <a:sym typeface="Calibri"/>
            </a:endParaRPr>
          </a:p>
        </p:txBody>
      </p:sp>
      <p:sp>
        <p:nvSpPr>
          <p:cNvPr id="438" name="Google Shape;438;p15"/>
          <p:cNvSpPr/>
          <p:nvPr/>
        </p:nvSpPr>
        <p:spPr>
          <a:xfrm>
            <a:off x="274320" y="2103120"/>
            <a:ext cx="8595360" cy="4572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15"/>
          <p:cNvSpPr/>
          <p:nvPr/>
        </p:nvSpPr>
        <p:spPr>
          <a:xfrm>
            <a:off x="411480" y="2167128"/>
            <a:ext cx="329184" cy="329184"/>
          </a:xfrm>
          <a:prstGeom prst="ellipse">
            <a:avLst/>
          </a:prstGeom>
          <a:solidFill>
            <a:srgbClr val="42A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5"/>
          <p:cNvSpPr/>
          <p:nvPr/>
        </p:nvSpPr>
        <p:spPr>
          <a:xfrm>
            <a:off x="411480" y="2167128"/>
            <a:ext cx="329184" cy="329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Arial Black"/>
              <a:buNone/>
            </a:pPr>
            <a:r>
              <a:rPr b="0" i="0" lang="en-US" sz="1400" u="none" cap="none" strike="noStrike">
                <a:solidFill>
                  <a:srgbClr val="FFFFFF"/>
                </a:solidFill>
                <a:latin typeface="Arial Black"/>
                <a:ea typeface="Arial Black"/>
                <a:cs typeface="Arial Black"/>
                <a:sym typeface="Arial Black"/>
              </a:rPr>
              <a:t>2</a:t>
            </a:r>
            <a:endParaRPr b="0" i="0" sz="1400" u="none" cap="none" strike="noStrike">
              <a:solidFill>
                <a:schemeClr val="dk1"/>
              </a:solidFill>
              <a:latin typeface="Calibri"/>
              <a:ea typeface="Calibri"/>
              <a:cs typeface="Calibri"/>
              <a:sym typeface="Calibri"/>
            </a:endParaRPr>
          </a:p>
        </p:txBody>
      </p:sp>
      <p:sp>
        <p:nvSpPr>
          <p:cNvPr id="441" name="Google Shape;441;p15"/>
          <p:cNvSpPr/>
          <p:nvPr/>
        </p:nvSpPr>
        <p:spPr>
          <a:xfrm>
            <a:off x="914400" y="2103120"/>
            <a:ext cx="2286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Batch + Tiempo Real</a:t>
            </a:r>
            <a:endParaRPr b="0" i="0" sz="1300" u="none" cap="none" strike="noStrike">
              <a:solidFill>
                <a:schemeClr val="dk1"/>
              </a:solidFill>
              <a:latin typeface="Calibri"/>
              <a:ea typeface="Calibri"/>
              <a:cs typeface="Calibri"/>
              <a:sym typeface="Calibri"/>
            </a:endParaRPr>
          </a:p>
        </p:txBody>
      </p:sp>
      <p:sp>
        <p:nvSpPr>
          <p:cNvPr id="442" name="Google Shape;442;p15"/>
          <p:cNvSpPr/>
          <p:nvPr/>
        </p:nvSpPr>
        <p:spPr>
          <a:xfrm>
            <a:off x="3200400" y="2103120"/>
            <a:ext cx="5486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Misma API, diferente patrón de consumo</a:t>
            </a:r>
            <a:endParaRPr b="0" i="0" sz="1100" u="none" cap="none" strike="noStrike">
              <a:solidFill>
                <a:schemeClr val="dk1"/>
              </a:solidFill>
              <a:latin typeface="Calibri"/>
              <a:ea typeface="Calibri"/>
              <a:cs typeface="Calibri"/>
              <a:sym typeface="Calibri"/>
            </a:endParaRPr>
          </a:p>
        </p:txBody>
      </p:sp>
      <p:sp>
        <p:nvSpPr>
          <p:cNvPr id="443" name="Google Shape;443;p15"/>
          <p:cNvSpPr/>
          <p:nvPr/>
        </p:nvSpPr>
        <p:spPr>
          <a:xfrm>
            <a:off x="274320" y="2651760"/>
            <a:ext cx="8595360" cy="4572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5"/>
          <p:cNvSpPr/>
          <p:nvPr/>
        </p:nvSpPr>
        <p:spPr>
          <a:xfrm>
            <a:off x="411480" y="2715768"/>
            <a:ext cx="329184" cy="329184"/>
          </a:xfrm>
          <a:prstGeom prst="ellipse">
            <a:avLst/>
          </a:prstGeom>
          <a:solidFill>
            <a:srgbClr val="E9683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15"/>
          <p:cNvSpPr/>
          <p:nvPr/>
        </p:nvSpPr>
        <p:spPr>
          <a:xfrm>
            <a:off x="411480" y="2715768"/>
            <a:ext cx="329184" cy="329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Arial Black"/>
              <a:buNone/>
            </a:pPr>
            <a:r>
              <a:rPr b="0" i="0" lang="en-US" sz="1400" u="none" cap="none" strike="noStrike">
                <a:solidFill>
                  <a:srgbClr val="FFFFFF"/>
                </a:solidFill>
                <a:latin typeface="Arial Black"/>
                <a:ea typeface="Arial Black"/>
                <a:cs typeface="Arial Black"/>
                <a:sym typeface="Arial Black"/>
              </a:rPr>
              <a:t>3</a:t>
            </a:r>
            <a:endParaRPr b="0" i="0" sz="1400" u="none" cap="none" strike="noStrike">
              <a:solidFill>
                <a:schemeClr val="dk1"/>
              </a:solidFill>
              <a:latin typeface="Calibri"/>
              <a:ea typeface="Calibri"/>
              <a:cs typeface="Calibri"/>
              <a:sym typeface="Calibri"/>
            </a:endParaRPr>
          </a:p>
        </p:txBody>
      </p:sp>
      <p:sp>
        <p:nvSpPr>
          <p:cNvPr id="446" name="Google Shape;446;p15"/>
          <p:cNvSpPr/>
          <p:nvPr/>
        </p:nvSpPr>
        <p:spPr>
          <a:xfrm>
            <a:off x="914400" y="2651760"/>
            <a:ext cx="2286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Dead Letter Queue</a:t>
            </a:r>
            <a:endParaRPr b="0" i="0" sz="1300" u="none" cap="none" strike="noStrike">
              <a:solidFill>
                <a:schemeClr val="dk1"/>
              </a:solidFill>
              <a:latin typeface="Calibri"/>
              <a:ea typeface="Calibri"/>
              <a:cs typeface="Calibri"/>
              <a:sym typeface="Calibri"/>
            </a:endParaRPr>
          </a:p>
        </p:txBody>
      </p:sp>
      <p:sp>
        <p:nvSpPr>
          <p:cNvPr id="447" name="Google Shape;447;p15"/>
          <p:cNvSpPr/>
          <p:nvPr/>
        </p:nvSpPr>
        <p:spPr>
          <a:xfrm>
            <a:off x="3200400" y="2651760"/>
            <a:ext cx="5486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Datos rechazados van a cuarentena, no se pierden</a:t>
            </a:r>
            <a:endParaRPr b="0" i="0" sz="1100" u="none" cap="none" strike="noStrike">
              <a:solidFill>
                <a:schemeClr val="dk1"/>
              </a:solidFill>
              <a:latin typeface="Calibri"/>
              <a:ea typeface="Calibri"/>
              <a:cs typeface="Calibri"/>
              <a:sym typeface="Calibri"/>
            </a:endParaRPr>
          </a:p>
        </p:txBody>
      </p:sp>
      <p:sp>
        <p:nvSpPr>
          <p:cNvPr id="448" name="Google Shape;448;p15"/>
          <p:cNvSpPr/>
          <p:nvPr/>
        </p:nvSpPr>
        <p:spPr>
          <a:xfrm>
            <a:off x="274320" y="3200400"/>
            <a:ext cx="8595360" cy="4572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15"/>
          <p:cNvSpPr/>
          <p:nvPr/>
        </p:nvSpPr>
        <p:spPr>
          <a:xfrm>
            <a:off x="411480" y="3264408"/>
            <a:ext cx="329184" cy="329184"/>
          </a:xfrm>
          <a:prstGeom prst="ellipse">
            <a:avLst/>
          </a:prstGeom>
          <a:solidFill>
            <a:srgbClr val="E74C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15"/>
          <p:cNvSpPr/>
          <p:nvPr/>
        </p:nvSpPr>
        <p:spPr>
          <a:xfrm>
            <a:off x="411480" y="3264408"/>
            <a:ext cx="329184" cy="329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Arial Black"/>
              <a:buNone/>
            </a:pPr>
            <a:r>
              <a:rPr b="0" i="0" lang="en-US" sz="1400" u="none" cap="none" strike="noStrike">
                <a:solidFill>
                  <a:srgbClr val="FFFFFF"/>
                </a:solidFill>
                <a:latin typeface="Arial Black"/>
                <a:ea typeface="Arial Black"/>
                <a:cs typeface="Arial Black"/>
                <a:sym typeface="Arial Black"/>
              </a:rPr>
              <a:t>4</a:t>
            </a:r>
            <a:endParaRPr b="0" i="0" sz="1400" u="none" cap="none" strike="noStrike">
              <a:solidFill>
                <a:schemeClr val="dk1"/>
              </a:solidFill>
              <a:latin typeface="Calibri"/>
              <a:ea typeface="Calibri"/>
              <a:cs typeface="Calibri"/>
              <a:sym typeface="Calibri"/>
            </a:endParaRPr>
          </a:p>
        </p:txBody>
      </p:sp>
      <p:sp>
        <p:nvSpPr>
          <p:cNvPr id="451" name="Google Shape;451;p15"/>
          <p:cNvSpPr/>
          <p:nvPr/>
        </p:nvSpPr>
        <p:spPr>
          <a:xfrm>
            <a:off x="914400" y="3200400"/>
            <a:ext cx="2286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Data Drift</a:t>
            </a:r>
            <a:endParaRPr b="0" i="0" sz="1300" u="none" cap="none" strike="noStrike">
              <a:solidFill>
                <a:schemeClr val="dk1"/>
              </a:solidFill>
              <a:latin typeface="Calibri"/>
              <a:ea typeface="Calibri"/>
              <a:cs typeface="Calibri"/>
              <a:sym typeface="Calibri"/>
            </a:endParaRPr>
          </a:p>
        </p:txBody>
      </p:sp>
      <p:sp>
        <p:nvSpPr>
          <p:cNvPr id="452" name="Google Shape;452;p15"/>
          <p:cNvSpPr/>
          <p:nvPr/>
        </p:nvSpPr>
        <p:spPr>
          <a:xfrm>
            <a:off x="3200400" y="3200400"/>
            <a:ext cx="5486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Si &gt;30% rechazo, pipeline se detiene con alerta</a:t>
            </a:r>
            <a:endParaRPr b="0" i="0" sz="1100" u="none" cap="none" strike="noStrike">
              <a:solidFill>
                <a:schemeClr val="dk1"/>
              </a:solidFill>
              <a:latin typeface="Calibri"/>
              <a:ea typeface="Calibri"/>
              <a:cs typeface="Calibri"/>
              <a:sym typeface="Calibri"/>
            </a:endParaRPr>
          </a:p>
        </p:txBody>
      </p:sp>
      <p:sp>
        <p:nvSpPr>
          <p:cNvPr id="453" name="Google Shape;453;p15"/>
          <p:cNvSpPr/>
          <p:nvPr/>
        </p:nvSpPr>
        <p:spPr>
          <a:xfrm>
            <a:off x="274320" y="3749040"/>
            <a:ext cx="8595360" cy="4572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15"/>
          <p:cNvSpPr/>
          <p:nvPr/>
        </p:nvSpPr>
        <p:spPr>
          <a:xfrm>
            <a:off x="411480" y="3813048"/>
            <a:ext cx="329184" cy="329184"/>
          </a:xfrm>
          <a:prstGeom prst="ellipse">
            <a:avLst/>
          </a:prstGeom>
          <a:solidFill>
            <a:srgbClr val="378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15"/>
          <p:cNvSpPr/>
          <p:nvPr/>
        </p:nvSpPr>
        <p:spPr>
          <a:xfrm>
            <a:off x="411480" y="3813048"/>
            <a:ext cx="329184" cy="329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Arial Black"/>
              <a:buNone/>
            </a:pPr>
            <a:r>
              <a:rPr b="0" i="0" lang="en-US" sz="1400" u="none" cap="none" strike="noStrike">
                <a:solidFill>
                  <a:srgbClr val="FFFFFF"/>
                </a:solidFill>
                <a:latin typeface="Arial Black"/>
                <a:ea typeface="Arial Black"/>
                <a:cs typeface="Arial Black"/>
                <a:sym typeface="Arial Black"/>
              </a:rPr>
              <a:t>5</a:t>
            </a:r>
            <a:endParaRPr b="0" i="0" sz="1400" u="none" cap="none" strike="noStrike">
              <a:solidFill>
                <a:schemeClr val="dk1"/>
              </a:solidFill>
              <a:latin typeface="Calibri"/>
              <a:ea typeface="Calibri"/>
              <a:cs typeface="Calibri"/>
              <a:sym typeface="Calibri"/>
            </a:endParaRPr>
          </a:p>
        </p:txBody>
      </p:sp>
      <p:sp>
        <p:nvSpPr>
          <p:cNvPr id="456" name="Google Shape;456;p15"/>
          <p:cNvSpPr/>
          <p:nvPr/>
        </p:nvSpPr>
        <p:spPr>
          <a:xfrm>
            <a:off x="914400" y="3749040"/>
            <a:ext cx="2286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FinOps</a:t>
            </a:r>
            <a:endParaRPr b="0" i="0" sz="1300" u="none" cap="none" strike="noStrike">
              <a:solidFill>
                <a:schemeClr val="dk1"/>
              </a:solidFill>
              <a:latin typeface="Calibri"/>
              <a:ea typeface="Calibri"/>
              <a:cs typeface="Calibri"/>
              <a:sym typeface="Calibri"/>
            </a:endParaRPr>
          </a:p>
        </p:txBody>
      </p:sp>
      <p:sp>
        <p:nvSpPr>
          <p:cNvPr id="457" name="Google Shape;457;p15"/>
          <p:cNvSpPr/>
          <p:nvPr/>
        </p:nvSpPr>
        <p:spPr>
          <a:xfrm>
            <a:off x="3200400" y="3749040"/>
            <a:ext cx="5486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Airflow local ($0) + Cloud Run con min-instances=0 (paga solo por invocación)</a:t>
            </a:r>
            <a:endParaRPr b="0" i="0" sz="1100" u="none" cap="none" strike="noStrike">
              <a:solidFill>
                <a:schemeClr val="dk1"/>
              </a:solidFill>
              <a:latin typeface="Calibri"/>
              <a:ea typeface="Calibri"/>
              <a:cs typeface="Calibri"/>
              <a:sym typeface="Calibri"/>
            </a:endParaRPr>
          </a:p>
        </p:txBody>
      </p:sp>
      <p:sp>
        <p:nvSpPr>
          <p:cNvPr id="458" name="Google Shape;458;p15"/>
          <p:cNvSpPr/>
          <p:nvPr/>
        </p:nvSpPr>
        <p:spPr>
          <a:xfrm>
            <a:off x="274320" y="4297680"/>
            <a:ext cx="8595360" cy="4572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15"/>
          <p:cNvSpPr/>
          <p:nvPr/>
        </p:nvSpPr>
        <p:spPr>
          <a:xfrm>
            <a:off x="411480" y="4361688"/>
            <a:ext cx="329184" cy="329184"/>
          </a:xfrm>
          <a:prstGeom prst="ellipse">
            <a:avLst/>
          </a:prstGeom>
          <a:solidFill>
            <a:srgbClr val="5454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15"/>
          <p:cNvSpPr/>
          <p:nvPr/>
        </p:nvSpPr>
        <p:spPr>
          <a:xfrm>
            <a:off x="411480" y="4361688"/>
            <a:ext cx="329184" cy="329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Arial Black"/>
              <a:buNone/>
            </a:pPr>
            <a:r>
              <a:rPr b="0" i="0" lang="en-US" sz="1400" u="none" cap="none" strike="noStrike">
                <a:solidFill>
                  <a:srgbClr val="FFFFFF"/>
                </a:solidFill>
                <a:latin typeface="Arial Black"/>
                <a:ea typeface="Arial Black"/>
                <a:cs typeface="Arial Black"/>
                <a:sym typeface="Arial Black"/>
              </a:rPr>
              <a:t>6</a:t>
            </a:r>
            <a:endParaRPr b="0" i="0" sz="1400" u="none" cap="none" strike="noStrike">
              <a:solidFill>
                <a:schemeClr val="dk1"/>
              </a:solidFill>
              <a:latin typeface="Calibri"/>
              <a:ea typeface="Calibri"/>
              <a:cs typeface="Calibri"/>
              <a:sym typeface="Calibri"/>
            </a:endParaRPr>
          </a:p>
        </p:txBody>
      </p:sp>
      <p:sp>
        <p:nvSpPr>
          <p:cNvPr id="461" name="Google Shape;461;p15"/>
          <p:cNvSpPr/>
          <p:nvPr/>
        </p:nvSpPr>
        <p:spPr>
          <a:xfrm>
            <a:off x="914400" y="4297680"/>
            <a:ext cx="2286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MLOps</a:t>
            </a:r>
            <a:endParaRPr b="0" i="0" sz="1300" u="none" cap="none" strike="noStrike">
              <a:solidFill>
                <a:schemeClr val="dk1"/>
              </a:solidFill>
              <a:latin typeface="Calibri"/>
              <a:ea typeface="Calibri"/>
              <a:cs typeface="Calibri"/>
              <a:sym typeface="Calibri"/>
            </a:endParaRPr>
          </a:p>
        </p:txBody>
      </p:sp>
      <p:sp>
        <p:nvSpPr>
          <p:cNvPr id="462" name="Google Shape;462;p15"/>
          <p:cNvSpPr/>
          <p:nvPr/>
        </p:nvSpPr>
        <p:spPr>
          <a:xfrm>
            <a:off x="3200400" y="4297680"/>
            <a:ext cx="5486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9999"/>
              </a:buClr>
              <a:buSzPts val="1100"/>
              <a:buFont typeface="Calibri"/>
              <a:buNone/>
            </a:pPr>
            <a:r>
              <a:rPr b="0" i="0" lang="en-US" sz="1100" u="none" cap="none" strike="noStrike">
                <a:solidFill>
                  <a:srgbClr val="999999"/>
                </a:solidFill>
                <a:latin typeface="Calibri"/>
                <a:ea typeface="Calibri"/>
                <a:cs typeface="Calibri"/>
                <a:sym typeface="Calibri"/>
              </a:rPr>
              <a:t>Ciclo completo: datos → modelo → API → pipeline → monitoreo</a:t>
            </a:r>
            <a:endParaRPr b="0" i="0" sz="1100" u="none" cap="none" strike="noStrike">
              <a:solidFill>
                <a:schemeClr val="dk1"/>
              </a:solidFill>
              <a:latin typeface="Calibri"/>
              <a:ea typeface="Calibri"/>
              <a:cs typeface="Calibri"/>
              <a:sym typeface="Calibri"/>
            </a:endParaRPr>
          </a:p>
        </p:txBody>
      </p:sp>
      <p:sp>
        <p:nvSpPr>
          <p:cNvPr id="463" name="Google Shape;463;p15"/>
          <p:cNvSpPr/>
          <p:nvPr/>
        </p:nvSpPr>
        <p:spPr>
          <a:xfrm>
            <a:off x="274320" y="4709160"/>
            <a:ext cx="859536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54E9"/>
              </a:buClr>
              <a:buSzPts val="1600"/>
              <a:buFont typeface="Arial Black"/>
              <a:buNone/>
            </a:pPr>
            <a:r>
              <a:rPr b="0" i="0" lang="en-US" sz="1600" u="none" cap="none" strike="noStrike">
                <a:solidFill>
                  <a:srgbClr val="5454E9"/>
                </a:solidFill>
                <a:latin typeface="Arial Black"/>
                <a:ea typeface="Arial Black"/>
                <a:cs typeface="Arial Black"/>
                <a:sym typeface="Arial Black"/>
              </a:rPr>
              <a:t>¿Preguntas?  →  Pasamos al laboratorio práctico</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2026-03-12T23:35:15Z</dcterms:created>
  <dc:creator>Universidad Icesi</dc:creator>
</cp:coreProperties>
</file>